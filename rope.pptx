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handoutMasterIdLst>
    <p:handoutMasterId r:id="rId24"/>
  </p:handoutMasterIdLst>
  <p:sldIdLst>
    <p:sldId id="256" r:id="rId3"/>
    <p:sldId id="257" r:id="rId4"/>
    <p:sldId id="259" r:id="rId5"/>
    <p:sldId id="260" r:id="rId6"/>
    <p:sldId id="278" r:id="rId7"/>
    <p:sldId id="277" r:id="rId8"/>
    <p:sldId id="261" r:id="rId9"/>
    <p:sldId id="262" r:id="rId10"/>
    <p:sldId id="263" r:id="rId11"/>
    <p:sldId id="264" r:id="rId12"/>
    <p:sldId id="270" r:id="rId13"/>
    <p:sldId id="271" r:id="rId14"/>
    <p:sldId id="274" r:id="rId15"/>
    <p:sldId id="275" r:id="rId16"/>
    <p:sldId id="272" r:id="rId17"/>
    <p:sldId id="273" r:id="rId18"/>
    <p:sldId id="266" r:id="rId19"/>
    <p:sldId id="267" r:id="rId20"/>
    <p:sldId id="268" r:id="rId21"/>
    <p:sldId id="265" r:id="rId22"/>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61"/>
        <p:guide pos="3818"/>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handoutMaster" Target="handoutMasters/handoutMaster1.xml"/><Relationship Id="rId23" Type="http://schemas.openxmlformats.org/officeDocument/2006/relationships/notesMaster" Target="notesMasters/notesMaster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true"/>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true"/>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true"/>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true"/>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true"/>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true"/>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true" noRot="true" noChangeAspect="true"/>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true"/>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true"/>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true"/>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true"/>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true"/>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true"/>
          </p:cNvSpPr>
          <p:nvPr>
            <p:ph type="title"/>
          </p:nvPr>
        </p:nvSpPr>
        <p:spPr>
          <a:xfrm>
            <a:off x="647700" y="258445"/>
            <a:ext cx="10515600" cy="1325563"/>
          </a:xfrm>
        </p:spPr>
        <p:txBody>
          <a:bodyPr anchor="ctr" anchorCtr="false">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true"/>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true"/>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true"/>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true"/>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true"/>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true"/>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true"/>
          </p:cNvSpPr>
          <p:nvPr>
            <p:ph type="ftr" sz="quarter" idx="11"/>
          </p:nvPr>
        </p:nvSpPr>
        <p:spPr/>
        <p:txBody>
          <a:bodyPr/>
          <a:lstStyle/>
          <a:p>
            <a:endParaRPr lang="zh-CN" altLang="en-US"/>
          </a:p>
        </p:txBody>
      </p:sp>
      <p:sp>
        <p:nvSpPr>
          <p:cNvPr id="7" name="灯片编号占位符 6"/>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true"/>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true"/>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true"/>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true"/>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true"/>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true"/>
          </p:cNvSpPr>
          <p:nvPr>
            <p:ph type="ftr" sz="quarter" idx="11"/>
          </p:nvPr>
        </p:nvSpPr>
        <p:spPr/>
        <p:txBody>
          <a:bodyPr/>
          <a:lstStyle/>
          <a:p>
            <a:endParaRPr lang="zh-CN" altLang="en-US"/>
          </a:p>
        </p:txBody>
      </p:sp>
      <p:sp>
        <p:nvSpPr>
          <p:cNvPr id="9" name="灯片编号占位符 8"/>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true"/>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true"/>
          </p:cNvSpPr>
          <p:nvPr>
            <p:ph type="ftr" sz="quarter" idx="11"/>
          </p:nvPr>
        </p:nvSpPr>
        <p:spPr/>
        <p:txBody>
          <a:bodyPr/>
          <a:lstStyle/>
          <a:p>
            <a:endParaRPr lang="zh-CN" altLang="en-US"/>
          </a:p>
        </p:txBody>
      </p:sp>
      <p:sp>
        <p:nvSpPr>
          <p:cNvPr id="5" name="灯片编号占位符 4"/>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true"/>
          </p:cNvSpPr>
          <p:nvPr>
            <p:ph type="ftr" sz="quarter" idx="11"/>
          </p:nvPr>
        </p:nvSpPr>
        <p:spPr/>
        <p:txBody>
          <a:bodyPr/>
          <a:lstStyle/>
          <a:p>
            <a:endParaRPr lang="zh-CN" altLang="en-US"/>
          </a:p>
        </p:txBody>
      </p:sp>
      <p:sp>
        <p:nvSpPr>
          <p:cNvPr id="4" name="灯片编号占位符 3"/>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true"/>
          </p:cNvSpPr>
          <p:nvPr>
            <p:ph type="title"/>
          </p:nvPr>
        </p:nvSpPr>
        <p:spPr>
          <a:xfrm>
            <a:off x="646747" y="127000"/>
            <a:ext cx="4165200" cy="1600200"/>
          </a:xfrm>
        </p:spPr>
        <p:txBody>
          <a:bodyPr anchor="ctr" anchorCtr="false">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true" noChangeAspect="true"/>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true"/>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true"/>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true"/>
          </p:cNvSpPr>
          <p:nvPr>
            <p:ph type="ftr" sz="quarter" idx="11"/>
          </p:nvPr>
        </p:nvSpPr>
        <p:spPr/>
        <p:txBody>
          <a:bodyPr/>
          <a:lstStyle/>
          <a:p>
            <a:endParaRPr lang="zh-CN" altLang="en-US" dirty="0"/>
          </a:p>
        </p:txBody>
      </p:sp>
      <p:sp>
        <p:nvSpPr>
          <p:cNvPr id="7" name="灯片编号占位符 6"/>
          <p:cNvSpPr>
            <a:spLocks noGrp="true"/>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true"/>
          <p:cNvCxnSpPr/>
          <p:nvPr userDrawn="true"/>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true"/>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true"/>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11"/>
          </p:nvPr>
        </p:nvSpPr>
        <p:spPr/>
        <p:txBody>
          <a:bodyPr/>
          <a:lstStyle/>
          <a:p>
            <a:endParaRPr lang="zh-CN" altLang="en-US"/>
          </a:p>
        </p:txBody>
      </p:sp>
      <p:sp>
        <p:nvSpPr>
          <p:cNvPr id="6" name="灯片编号占位符 5"/>
          <p:cNvSpPr>
            <a:spLocks noGrp="true"/>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true"/>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true"/>
          </p:cNvSpPr>
          <p:nvPr>
            <p:ph type="ftr" sz="quarter" idx="11"/>
          </p:nvPr>
        </p:nvSpPr>
        <p:spPr/>
        <p:txBody>
          <a:bodyPr/>
          <a:lstStyle/>
          <a:p>
            <a:endParaRPr lang="zh-CN" altLang="en-US"/>
          </a:p>
        </p:txBody>
      </p:sp>
      <p:sp>
        <p:nvSpPr>
          <p:cNvPr id="5" name="灯片编号占位符 4"/>
          <p:cNvSpPr>
            <a:spLocks noGrp="true"/>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true"/>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true"/>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true"/>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true"/>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true"/>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true"/>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ctrTitle"/>
          </p:nvPr>
        </p:nvSpPr>
        <p:spPr/>
        <p:txBody>
          <a:bodyPr/>
          <a:p>
            <a:endParaRPr lang="en-US"/>
          </a:p>
        </p:txBody>
      </p:sp>
      <p:sp>
        <p:nvSpPr>
          <p:cNvPr id="3" name="Subtitle 2"/>
          <p:cNvSpPr>
            <a:spLocks noGrp="true"/>
          </p:cNvSpPr>
          <p:nvPr>
            <p:ph type="subTitle" idx="1"/>
          </p:nvPr>
        </p:nvSpPr>
        <p:spPr/>
        <p:txBody>
          <a:bodyPr/>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effectLst/>
              </a:rPr>
              <a:t>Rope Simulation in</a:t>
            </a:r>
            <a:br>
              <a:rPr lang="en-US">
                <a:effectLst/>
              </a:rPr>
            </a:br>
            <a:r>
              <a:rPr lang="en-US">
                <a:effectLst/>
              </a:rPr>
              <a:t> 'Uncharted 4' and 'T</a:t>
            </a:r>
            <a:r>
              <a:rPr lang="" altLang="en-US">
                <a:effectLst/>
              </a:rPr>
              <a:t>HE</a:t>
            </a:r>
            <a:r>
              <a:rPr lang="en-US">
                <a:effectLst/>
              </a:rPr>
              <a:t> </a:t>
            </a:r>
            <a:r>
              <a:rPr lang="" altLang="en-US">
                <a:effectLst/>
              </a:rPr>
              <a:t>LAST OF</a:t>
            </a:r>
            <a:r>
              <a:rPr lang="en-US">
                <a:effectLst/>
              </a:rPr>
              <a:t> U</a:t>
            </a:r>
            <a:r>
              <a:rPr lang="" altLang="en-US">
                <a:effectLst/>
              </a:rPr>
              <a:t>S PART</a:t>
            </a:r>
            <a:r>
              <a:rPr lang="en-US">
                <a:effectLst/>
              </a:rPr>
              <a:t> </a:t>
            </a:r>
            <a:r>
              <a:rPr lang="" altLang="en-US">
                <a:effectLst/>
              </a:rPr>
              <a:t>Ⅱ</a:t>
            </a:r>
            <a:r>
              <a:rPr lang="en-US">
                <a:effectLst/>
              </a:rPr>
              <a:t>'</a:t>
            </a:r>
            <a:r>
              <a:rPr lang="" altLang="en-US">
                <a:effectLst/>
              </a:rPr>
              <a:t> (1/3)</a:t>
            </a:r>
            <a:endParaRPr lang="" altLang="en-US">
              <a:effectLst/>
            </a:endParaRPr>
          </a:p>
        </p:txBody>
      </p:sp>
      <p:sp>
        <p:nvSpPr>
          <p:cNvPr id="4" name="Text Box 3"/>
          <p:cNvSpPr txBox="true"/>
          <p:nvPr/>
        </p:nvSpPr>
        <p:spPr>
          <a:xfrm>
            <a:off x="647700" y="1584325"/>
            <a:ext cx="10825480" cy="4523105"/>
          </a:xfrm>
          <a:prstGeom prst="rect">
            <a:avLst/>
          </a:prstGeom>
          <a:noFill/>
        </p:spPr>
        <p:txBody>
          <a:bodyPr wrap="square" rtlCol="0">
            <a:spAutoFit/>
          </a:bodyPr>
          <a:p>
            <a:r>
              <a:rPr lang="en-US" altLang="en-US" u="sng"/>
              <a:t>これは何</a:t>
            </a:r>
            <a:endParaRPr lang="en-US" altLang="en-US"/>
          </a:p>
          <a:p>
            <a:r>
              <a:rPr lang="en-US" altLang="en-US"/>
              <a:t>ノーティドッグが8年作っているロープシミュレーション</a:t>
            </a:r>
            <a:r>
              <a:rPr lang="" altLang="en-US"/>
              <a:t>の解説</a:t>
            </a:r>
            <a:endParaRPr lang="en-US" altLang="en-US"/>
          </a:p>
          <a:p>
            <a:r>
              <a:rPr lang="" altLang="en-US"/>
              <a:t>ロープの品質の高さでtwitterで話題になった．</a:t>
            </a:r>
            <a:endParaRPr lang="en-US" altLang="en-US"/>
          </a:p>
          <a:p>
            <a:endParaRPr lang="en-US" altLang="en-US"/>
          </a:p>
          <a:p>
            <a:r>
              <a:rPr lang="en-US" altLang="en-US" u="sng"/>
              <a:t>ロープシミュレーションを改善するモチベーション</a:t>
            </a:r>
            <a:endParaRPr lang="en-US" altLang="en-US"/>
          </a:p>
          <a:p>
            <a:r>
              <a:rPr lang="en-US" altLang="en-US"/>
              <a:t>アンチャーテッドシリーズではロープに制限があった</a:t>
            </a:r>
            <a:endParaRPr lang="en-US" altLang="en-US"/>
          </a:p>
          <a:p>
            <a:r>
              <a:rPr lang="en-US" altLang="en-US"/>
              <a:t>(長さ(最大14m)，自由端を持てない，など )</a:t>
            </a:r>
            <a:endParaRPr lang="en-US" altLang="en-US"/>
          </a:p>
          <a:p>
            <a:r>
              <a:rPr lang="en-US" altLang="en-US"/>
              <a:t>→ゲームシステム，レベルデザインに制限</a:t>
            </a:r>
            <a:endParaRPr lang="en-US" altLang="en-US"/>
          </a:p>
          <a:p>
            <a:r>
              <a:rPr lang="en-US" altLang="en-US"/>
              <a:t>ラスアス2ではロープに対する制限を緩和する要求が発生．</a:t>
            </a:r>
            <a:endParaRPr lang="en-US" altLang="en-US"/>
          </a:p>
          <a:p>
            <a:r>
              <a:rPr lang="en-US" altLang="en-US"/>
              <a:t>それに伴いロープのユースケースが拡大した．</a:t>
            </a:r>
            <a:endParaRPr lang="en-US" altLang="en-US"/>
          </a:p>
          <a:p>
            <a:r>
              <a:rPr lang="en-US" altLang="en-US"/>
              <a:t>例</a:t>
            </a:r>
            <a:r>
              <a:rPr lang="" altLang="en-US"/>
              <a:t>：</a:t>
            </a:r>
            <a:r>
              <a:rPr lang="en-US" altLang="en-US"/>
              <a:t>遠くの枝にロープを投げて巻きつける</a:t>
            </a:r>
            <a:endParaRPr lang="en-US" altLang="en-US"/>
          </a:p>
          <a:p>
            <a:r>
              <a:rPr lang="en-US" altLang="en-US"/>
              <a:t>例：ロープのどの部分でも掴むことができ</a:t>
            </a:r>
            <a:r>
              <a:rPr lang="" altLang="en-US"/>
              <a:t>，</a:t>
            </a:r>
            <a:endParaRPr lang="" altLang="en-US"/>
          </a:p>
          <a:p>
            <a:r>
              <a:rPr lang="en-US" altLang="en-US"/>
              <a:t>ロープをたぐり寄せることもできる．</a:t>
            </a:r>
            <a:endParaRPr lang="en-US" altLang="en-US"/>
          </a:p>
          <a:p>
            <a:r>
              <a:rPr lang="en-US" altLang="en-US"/>
              <a:t>例：馬の手綱やチェーンマガジンなどの装飾品も</a:t>
            </a:r>
            <a:r>
              <a:rPr lang="" altLang="en-US"/>
              <a:t>，</a:t>
            </a:r>
            <a:endParaRPr lang="" altLang="en-US"/>
          </a:p>
          <a:p>
            <a:r>
              <a:rPr lang="en-US" altLang="en-US"/>
              <a:t>ロープによるシミュレーション</a:t>
            </a:r>
            <a:endParaRPr lang="en-US" altLang="en-US"/>
          </a:p>
          <a:p>
            <a:endParaRPr lang="en-US" altLang="en-US"/>
          </a:p>
        </p:txBody>
      </p:sp>
      <p:pic>
        <p:nvPicPr>
          <p:cNvPr id="3" name="Picture 2"/>
          <p:cNvPicPr>
            <a:picLocks noChangeAspect="true"/>
          </p:cNvPicPr>
          <p:nvPr/>
        </p:nvPicPr>
        <p:blipFill>
          <a:blip r:embed="rId1"/>
          <a:stretch>
            <a:fillRect/>
          </a:stretch>
        </p:blipFill>
        <p:spPr>
          <a:xfrm>
            <a:off x="7424420" y="2058670"/>
            <a:ext cx="4631690" cy="4571365"/>
          </a:xfrm>
          <a:prstGeom prst="rect">
            <a:avLst/>
          </a:prstGeom>
        </p:spPr>
      </p:pic>
      <p:sp>
        <p:nvSpPr>
          <p:cNvPr id="5" name="Text Box 4"/>
          <p:cNvSpPr txBox="true"/>
          <p:nvPr/>
        </p:nvSpPr>
        <p:spPr>
          <a:xfrm>
            <a:off x="7424420" y="6630035"/>
            <a:ext cx="5372735" cy="245110"/>
          </a:xfrm>
          <a:prstGeom prst="rect">
            <a:avLst/>
          </a:prstGeom>
          <a:noFill/>
        </p:spPr>
        <p:txBody>
          <a:bodyPr wrap="square" rtlCol="0" anchor="t">
            <a:spAutoFit/>
          </a:bodyPr>
          <a:p>
            <a:r>
              <a:rPr lang="" altLang="en-US" sz="1000"/>
              <a:t>&gt; </a:t>
            </a:r>
            <a:r>
              <a:rPr lang="en-US" sz="1000"/>
              <a:t>https://twitter.com/xavierck3d/status/1274159512308473856?s=20</a:t>
            </a:r>
            <a:endParaRPr lang="en-US" sz="1000"/>
          </a:p>
        </p:txBody>
      </p:sp>
      <p:sp>
        <p:nvSpPr>
          <p:cNvPr id="6" name="Rectangle 5"/>
          <p:cNvSpPr/>
          <p:nvPr/>
        </p:nvSpPr>
        <p:spPr>
          <a:xfrm>
            <a:off x="9625330" y="2308860"/>
            <a:ext cx="1379220" cy="161925"/>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effectLst/>
                <a:sym typeface="+mn-ea"/>
              </a:rPr>
              <a:t>Rope Simulation in</a:t>
            </a:r>
            <a:br>
              <a:rPr lang="en-US">
                <a:effectLst/>
                <a:sym typeface="+mn-ea"/>
              </a:rPr>
            </a:br>
            <a:r>
              <a:rPr lang="en-US">
                <a:effectLst/>
                <a:sym typeface="+mn-ea"/>
              </a:rPr>
              <a:t> 'Uncharted 4' and 'T</a:t>
            </a:r>
            <a:r>
              <a:rPr lang="en-US" altLang="en-US">
                <a:effectLst/>
                <a:sym typeface="+mn-ea"/>
              </a:rPr>
              <a:t>HE</a:t>
            </a:r>
            <a:r>
              <a:rPr lang="en-US">
                <a:effectLst/>
                <a:sym typeface="+mn-ea"/>
              </a:rPr>
              <a:t> </a:t>
            </a:r>
            <a:r>
              <a:rPr lang="en-US" altLang="en-US">
                <a:effectLst/>
                <a:sym typeface="+mn-ea"/>
              </a:rPr>
              <a:t>LAST OF</a:t>
            </a:r>
            <a:r>
              <a:rPr lang="en-US">
                <a:effectLst/>
                <a:sym typeface="+mn-ea"/>
              </a:rPr>
              <a:t> U</a:t>
            </a:r>
            <a:r>
              <a:rPr lang="en-US" altLang="en-US">
                <a:effectLst/>
                <a:sym typeface="+mn-ea"/>
              </a:rPr>
              <a:t>S PART</a:t>
            </a:r>
            <a:r>
              <a:rPr lang="en-US">
                <a:effectLst/>
                <a:sym typeface="+mn-ea"/>
              </a:rPr>
              <a:t> </a:t>
            </a:r>
            <a:r>
              <a:rPr lang="en-US" altLang="en-US">
                <a:effectLst/>
                <a:sym typeface="+mn-ea"/>
              </a:rPr>
              <a:t>Ⅱ</a:t>
            </a:r>
            <a:r>
              <a:rPr lang="en-US">
                <a:effectLst/>
                <a:sym typeface="+mn-ea"/>
              </a:rPr>
              <a:t>'</a:t>
            </a:r>
            <a:r>
              <a:rPr lang="en-US" altLang="en-US">
                <a:effectLst/>
                <a:sym typeface="+mn-ea"/>
              </a:rPr>
              <a:t> </a:t>
            </a:r>
            <a:r>
              <a:rPr lang="" altLang="en-US">
                <a:effectLst/>
              </a:rPr>
              <a:t>(2/3)</a:t>
            </a:r>
            <a:endParaRPr lang="" altLang="en-US">
              <a:effectLst/>
            </a:endParaRPr>
          </a:p>
        </p:txBody>
      </p:sp>
      <p:sp>
        <p:nvSpPr>
          <p:cNvPr id="4" name="Text Box 3"/>
          <p:cNvSpPr txBox="true"/>
          <p:nvPr/>
        </p:nvSpPr>
        <p:spPr>
          <a:xfrm>
            <a:off x="647700" y="1584325"/>
            <a:ext cx="10825480" cy="5077460"/>
          </a:xfrm>
          <a:prstGeom prst="rect">
            <a:avLst/>
          </a:prstGeom>
          <a:noFill/>
        </p:spPr>
        <p:txBody>
          <a:bodyPr wrap="square" rtlCol="0">
            <a:spAutoFit/>
          </a:bodyPr>
          <a:p>
            <a:r>
              <a:rPr lang="en-US" altLang="en-US" u="sng">
                <a:sym typeface="+mn-ea"/>
              </a:rPr>
              <a:t>ロープシミュレーション</a:t>
            </a:r>
            <a:endParaRPr lang="en-US" altLang="en-US">
              <a:sym typeface="+mn-ea"/>
            </a:endParaRPr>
          </a:p>
          <a:p>
            <a:r>
              <a:rPr lang="en-US" altLang="en-US">
                <a:sym typeface="+mn-ea"/>
              </a:rPr>
              <a:t>・アンチャーテッドシリーズのロープシミュレーション</a:t>
            </a:r>
            <a:endParaRPr lang="en-US" altLang="en-US">
              <a:sym typeface="+mn-ea"/>
            </a:endParaRPr>
          </a:p>
          <a:p>
            <a:r>
              <a:rPr lang="en-US" altLang="en-US">
                <a:sym typeface="+mn-ea"/>
              </a:rPr>
              <a:t>PBD(Position Based Dynamics)ベース(PBDベースのシミュレーションはシンプルかつ安定する．)</a:t>
            </a:r>
            <a:endParaRPr lang="en-US" altLang="en-US">
              <a:sym typeface="+mn-ea"/>
            </a:endParaRPr>
          </a:p>
          <a:p>
            <a:r>
              <a:rPr lang="en-US" altLang="en-US">
                <a:sym typeface="+mn-ea"/>
              </a:rPr>
              <a:t>→しかし，そのまま使うとロープの滑りとシミュレーション後の形状が気になる</a:t>
            </a:r>
            <a:endParaRPr lang="en-US" altLang="en-US">
              <a:sym typeface="+mn-ea"/>
            </a:endParaRPr>
          </a:p>
          <a:p>
            <a:r>
              <a:rPr lang="en-US" altLang="en-US">
                <a:sym typeface="+mn-ea"/>
              </a:rPr>
              <a:t>→→ロープの剛性と摩擦による影響をPBDシミュレーションに追加</a:t>
            </a:r>
            <a:endParaRPr lang="en-US" altLang="en-US">
              <a:sym typeface="+mn-ea"/>
            </a:endParaRPr>
          </a:p>
          <a:p>
            <a:r>
              <a:rPr lang="en-US" altLang="en-US">
                <a:sym typeface="+mn-ea"/>
              </a:rPr>
              <a:t>・ロープシミュレーションラスアス２のロープシミュレーション</a:t>
            </a:r>
            <a:endParaRPr lang="en-US" altLang="en-US">
              <a:sym typeface="+mn-ea"/>
            </a:endParaRPr>
          </a:p>
          <a:p>
            <a:r>
              <a:rPr lang="en-US" altLang="en-US">
                <a:sym typeface="+mn-ea"/>
              </a:rPr>
              <a:t>アンチャーテッドシリーズのロープシミュレーションベース</a:t>
            </a:r>
            <a:endParaRPr lang="en-US" altLang="en-US">
              <a:sym typeface="+mn-ea"/>
            </a:endParaRPr>
          </a:p>
          <a:p>
            <a:r>
              <a:rPr lang="en-US" altLang="en-US">
                <a:sym typeface="+mn-ea"/>
              </a:rPr>
              <a:t>→片方が固定されていないロープのシミュレーションで滑り</a:t>
            </a:r>
            <a:endParaRPr lang="en-US" altLang="en-US">
              <a:sym typeface="+mn-ea"/>
            </a:endParaRPr>
          </a:p>
          <a:p>
            <a:r>
              <a:rPr lang="en-US" altLang="en-US">
                <a:sym typeface="+mn-ea"/>
              </a:rPr>
              <a:t>→→ロープの摩擦拘束に張力の影響を追加</a:t>
            </a:r>
            <a:endParaRPr lang="en-US" altLang="en-US" u="sng">
              <a:sym typeface="+mn-ea"/>
            </a:endParaRPr>
          </a:p>
          <a:p>
            <a:r>
              <a:rPr lang="en-US" altLang="en-US" u="sng">
                <a:sym typeface="+mn-ea"/>
              </a:rPr>
              <a:t>ロープシミュレーションの負荷対策</a:t>
            </a:r>
            <a:endParaRPr lang="en-US" altLang="en-US" u="sng">
              <a:sym typeface="+mn-ea"/>
            </a:endParaRPr>
          </a:p>
          <a:p>
            <a:r>
              <a:rPr lang="en-US" altLang="en-US">
                <a:sym typeface="+mn-ea"/>
              </a:rPr>
              <a:t>張力の伝搬を考慮するとO(n^2)の計算負荷(n＝ロープの分割数)</a:t>
            </a:r>
            <a:endParaRPr lang="en-US" altLang="en-US">
              <a:sym typeface="+mn-ea"/>
            </a:endParaRPr>
          </a:p>
          <a:p>
            <a:r>
              <a:rPr lang="" altLang="en-US">
                <a:sym typeface="+mn-ea"/>
              </a:rPr>
              <a:t>PS4でのCPUロープシミュ</a:t>
            </a:r>
            <a:r>
              <a:rPr lang="en-US" altLang="en-US">
                <a:sym typeface="+mn-ea"/>
              </a:rPr>
              <a:t>(14</a:t>
            </a:r>
            <a:r>
              <a:rPr lang="" altLang="en-US">
                <a:sym typeface="+mn-ea"/>
              </a:rPr>
              <a:t>[</a:t>
            </a:r>
            <a:r>
              <a:rPr lang="en-US" altLang="en-US">
                <a:sym typeface="+mn-ea"/>
              </a:rPr>
              <a:t>m</a:t>
            </a:r>
            <a:r>
              <a:rPr lang="" altLang="en-US">
                <a:sym typeface="+mn-ea"/>
              </a:rPr>
              <a:t>]</a:t>
            </a:r>
            <a:r>
              <a:rPr lang="en-US" altLang="en-US">
                <a:sym typeface="+mn-ea"/>
              </a:rPr>
              <a:t>，272</a:t>
            </a:r>
            <a:r>
              <a:rPr lang="" altLang="en-US">
                <a:sym typeface="+mn-ea"/>
              </a:rPr>
              <a:t>[node] 113 [iter]</a:t>
            </a:r>
            <a:r>
              <a:rPr lang="en-US" altLang="en-US">
                <a:sym typeface="+mn-ea"/>
              </a:rPr>
              <a:t>)</a:t>
            </a:r>
            <a:r>
              <a:rPr lang="" altLang="en-US">
                <a:sym typeface="+mn-ea"/>
              </a:rPr>
              <a:t>に〜12msかかる</a:t>
            </a:r>
            <a:endParaRPr lang="en-US" altLang="en-US">
              <a:sym typeface="+mn-ea"/>
            </a:endParaRPr>
          </a:p>
          <a:p>
            <a:r>
              <a:rPr lang="en-US" altLang="en-US">
                <a:sym typeface="+mn-ea"/>
              </a:rPr>
              <a:t>遠くのロープのシミュレーションに</a:t>
            </a:r>
            <a:r>
              <a:rPr lang="" altLang="en-US">
                <a:sym typeface="+mn-ea"/>
              </a:rPr>
              <a:t>テッセレーション</a:t>
            </a:r>
            <a:r>
              <a:rPr lang="en-US" altLang="en-US">
                <a:sym typeface="+mn-ea"/>
              </a:rPr>
              <a:t>を適用</a:t>
            </a:r>
            <a:endParaRPr lang="en-US" altLang="en-US">
              <a:sym typeface="+mn-ea"/>
            </a:endParaRPr>
          </a:p>
          <a:p>
            <a:r>
              <a:rPr lang="en-US" altLang="en-US">
                <a:sym typeface="+mn-ea"/>
              </a:rPr>
              <a:t>PS4のCPUでは処理負荷が高いのでGPUも使用して高速化</a:t>
            </a:r>
            <a:endParaRPr lang="en-US" altLang="en-US">
              <a:sym typeface="+mn-ea"/>
            </a:endParaRPr>
          </a:p>
          <a:p>
            <a:r>
              <a:rPr lang="" altLang="en-US" u="sng">
                <a:sym typeface="+mn-ea"/>
              </a:rPr>
              <a:t>接触拘束解決の話題</a:t>
            </a:r>
            <a:endParaRPr lang="" altLang="en-US" u="sng">
              <a:sym typeface="+mn-ea"/>
            </a:endParaRPr>
          </a:p>
          <a:p>
            <a:r>
              <a:rPr lang="" altLang="en-US">
                <a:sym typeface="+mn-ea"/>
              </a:rPr>
              <a:t>円形のロープの中心に棒がある場合など接触拘束が積んでしまう場合，拘束を一時的に破壊する．</a:t>
            </a:r>
            <a:endParaRPr lang="" altLang="en-US" u="sng">
              <a:sym typeface="+mn-ea"/>
            </a:endParaRPr>
          </a:p>
          <a:p>
            <a:endParaRPr lang="en-US" altLang="en-US">
              <a:sym typeface="+mn-ea"/>
            </a:endParaRPr>
          </a:p>
          <a:p>
            <a:endParaRPr lang="en-US"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effectLst/>
                <a:sym typeface="+mn-ea"/>
              </a:rPr>
              <a:t>Rope Simulation in</a:t>
            </a:r>
            <a:br>
              <a:rPr lang="en-US">
                <a:effectLst/>
                <a:sym typeface="+mn-ea"/>
              </a:rPr>
            </a:br>
            <a:r>
              <a:rPr lang="en-US">
                <a:effectLst/>
                <a:sym typeface="+mn-ea"/>
              </a:rPr>
              <a:t> 'Uncharted 4' and 'T</a:t>
            </a:r>
            <a:r>
              <a:rPr lang="en-US" altLang="en-US">
                <a:effectLst/>
                <a:sym typeface="+mn-ea"/>
              </a:rPr>
              <a:t>HE</a:t>
            </a:r>
            <a:r>
              <a:rPr lang="en-US">
                <a:effectLst/>
                <a:sym typeface="+mn-ea"/>
              </a:rPr>
              <a:t> </a:t>
            </a:r>
            <a:r>
              <a:rPr lang="en-US" altLang="en-US">
                <a:effectLst/>
                <a:sym typeface="+mn-ea"/>
              </a:rPr>
              <a:t>LAST OF</a:t>
            </a:r>
            <a:r>
              <a:rPr lang="en-US">
                <a:effectLst/>
                <a:sym typeface="+mn-ea"/>
              </a:rPr>
              <a:t> U</a:t>
            </a:r>
            <a:r>
              <a:rPr lang="en-US" altLang="en-US">
                <a:effectLst/>
                <a:sym typeface="+mn-ea"/>
              </a:rPr>
              <a:t>S PART</a:t>
            </a:r>
            <a:r>
              <a:rPr lang="en-US">
                <a:effectLst/>
                <a:sym typeface="+mn-ea"/>
              </a:rPr>
              <a:t> </a:t>
            </a:r>
            <a:r>
              <a:rPr lang="en-US" altLang="en-US">
                <a:effectLst/>
                <a:sym typeface="+mn-ea"/>
              </a:rPr>
              <a:t>Ⅱ</a:t>
            </a:r>
            <a:r>
              <a:rPr lang="en-US">
                <a:effectLst/>
                <a:sym typeface="+mn-ea"/>
              </a:rPr>
              <a:t>'</a:t>
            </a:r>
            <a:r>
              <a:rPr lang="en-US" altLang="en-US">
                <a:effectLst/>
                <a:sym typeface="+mn-ea"/>
              </a:rPr>
              <a:t> </a:t>
            </a:r>
            <a:r>
              <a:rPr lang="" altLang="en-US">
                <a:effectLst/>
              </a:rPr>
              <a:t>(3/3)</a:t>
            </a:r>
            <a:endParaRPr lang="" altLang="en-US">
              <a:effectLst/>
            </a:endParaRPr>
          </a:p>
        </p:txBody>
      </p:sp>
      <p:sp>
        <p:nvSpPr>
          <p:cNvPr id="4" name="Text Box 3"/>
          <p:cNvSpPr txBox="true"/>
          <p:nvPr/>
        </p:nvSpPr>
        <p:spPr>
          <a:xfrm>
            <a:off x="647700" y="1584325"/>
            <a:ext cx="10825480" cy="5077460"/>
          </a:xfrm>
          <a:prstGeom prst="rect">
            <a:avLst/>
          </a:prstGeom>
          <a:noFill/>
        </p:spPr>
        <p:txBody>
          <a:bodyPr wrap="square" rtlCol="0">
            <a:spAutoFit/>
          </a:bodyPr>
          <a:p>
            <a:r>
              <a:rPr lang="en-US" altLang="en-US" u="sng">
                <a:sym typeface="+mn-ea"/>
              </a:rPr>
              <a:t>張ったロープのシミュレーション</a:t>
            </a:r>
            <a:endParaRPr lang="en-US" altLang="en-US">
              <a:sym typeface="+mn-ea"/>
            </a:endParaRPr>
          </a:p>
          <a:p>
            <a:r>
              <a:rPr lang="en-US" altLang="en-US">
                <a:sym typeface="+mn-ea"/>
              </a:rPr>
              <a:t>・張ったロープはメッシュ形状のエッジに沿って接触拘束を解決する．</a:t>
            </a:r>
            <a:endParaRPr lang="en-US" altLang="en-US"/>
          </a:p>
          <a:p>
            <a:r>
              <a:rPr lang="en-US" altLang="en-US">
                <a:sym typeface="+mn-ea"/>
              </a:rPr>
              <a:t>・メッシュ形状によっては↑の方法が使えない場合があるので以下をソルバに追加</a:t>
            </a:r>
            <a:endParaRPr lang="en-US" altLang="en-US"/>
          </a:p>
          <a:p>
            <a:r>
              <a:rPr lang="en-US" altLang="en-US">
                <a:sym typeface="+mn-ea"/>
              </a:rPr>
              <a:t>→メッシュの展開図を作成し，展開図の上でロープを最短距離に結ぶことにより接触拘束を解決</a:t>
            </a:r>
            <a:endParaRPr lang="en-US" altLang="en-US"/>
          </a:p>
          <a:p>
            <a:r>
              <a:rPr lang="en-US" altLang="en-US">
                <a:sym typeface="+mn-ea"/>
              </a:rPr>
              <a:t>→各辺のペアごとに接触拘束の解決を試みて安定するケースを探す．</a:t>
            </a:r>
            <a:endParaRPr lang="en-US" altLang="en-US">
              <a:sym typeface="+mn-ea"/>
            </a:endParaRPr>
          </a:p>
          <a:p>
            <a:endParaRPr lang="en-US" altLang="en-US">
              <a:sym typeface="+mn-ea"/>
            </a:endParaRPr>
          </a:p>
          <a:p>
            <a:r>
              <a:rPr lang="en-US" altLang="en-US" u="sng">
                <a:sym typeface="+mn-ea"/>
              </a:rPr>
              <a:t>終わりに</a:t>
            </a:r>
            <a:endParaRPr lang="en-US" altLang="en-US">
              <a:sym typeface="+mn-ea"/>
            </a:endParaRPr>
          </a:p>
          <a:p>
            <a:r>
              <a:rPr lang="en-US" altLang="en-US">
                <a:sym typeface="+mn-ea"/>
              </a:rPr>
              <a:t>最後にロープシミュレーションについてどこで折り合いをつけるかの目安を示してい</a:t>
            </a:r>
            <a:r>
              <a:rPr lang="" altLang="en-US">
                <a:sym typeface="+mn-ea"/>
              </a:rPr>
              <a:t>た</a:t>
            </a:r>
            <a:endParaRPr lang="en-US" altLang="en-US"/>
          </a:p>
          <a:p>
            <a:r>
              <a:rPr lang="en-US" altLang="en-US">
                <a:sym typeface="+mn-ea"/>
              </a:rPr>
              <a:t>・易しい：PBD (単純な摩擦と剛性のブレンド付き)</a:t>
            </a:r>
            <a:endParaRPr lang="en-US" altLang="en-US"/>
          </a:p>
          <a:p>
            <a:r>
              <a:rPr lang="en-US" altLang="en-US">
                <a:sym typeface="+mn-ea"/>
              </a:rPr>
              <a:t>・ちょっと難しい：よりリアルな摩擦，ロープテッセレーション，GPUでの計算</a:t>
            </a:r>
            <a:endParaRPr lang="en-US" altLang="en-US">
              <a:sym typeface="+mn-ea"/>
            </a:endParaRPr>
          </a:p>
          <a:p>
            <a:r>
              <a:rPr lang="en-US" altLang="en-US">
                <a:sym typeface="+mn-ea"/>
              </a:rPr>
              <a:t>・難しい：自由端ロープ，タイトなロープシミュレーション</a:t>
            </a:r>
            <a:endParaRPr lang="en-US" altLang="en-US"/>
          </a:p>
          <a:p>
            <a:r>
              <a:rPr lang="en-US" altLang="en-US">
                <a:sym typeface="+mn-ea"/>
              </a:rPr>
              <a:t>・更に難しい：複雑なメッシュ形状の接触拘束の解決</a:t>
            </a:r>
            <a:endParaRPr lang="en-US" altLang="en-US">
              <a:sym typeface="+mn-ea"/>
            </a:endParaRPr>
          </a:p>
          <a:p>
            <a:endParaRPr lang="en-US" altLang="en-US"/>
          </a:p>
          <a:p>
            <a:r>
              <a:rPr lang="" altLang="en-US" u="sng"/>
              <a:t>所感：</a:t>
            </a:r>
            <a:endParaRPr lang="" altLang="en-US"/>
          </a:p>
          <a:p>
            <a:r>
              <a:rPr lang="" altLang="en-US"/>
              <a:t>内容は実装チックでプログラマ向けの話になっていましたが，</a:t>
            </a:r>
            <a:endParaRPr lang="" altLang="en-US"/>
          </a:p>
          <a:p>
            <a:r>
              <a:rPr lang="" altLang="en-US">
                <a:solidFill>
                  <a:srgbClr val="FF0000"/>
                </a:solidFill>
              </a:rPr>
              <a:t>(ロープ)シミュレーションの自由度と実装難易度の関係については(ロープの)仕様策定に関わる人全て</a:t>
            </a:r>
            <a:endParaRPr lang="en-US" altLang="en-US">
              <a:solidFill>
                <a:srgbClr val="FF0000"/>
              </a:solidFill>
            </a:endParaRPr>
          </a:p>
          <a:p>
            <a:r>
              <a:rPr lang="" altLang="en-US">
                <a:solidFill>
                  <a:srgbClr val="FF0000"/>
                </a:solidFill>
              </a:rPr>
              <a:t>プログラマ以外も知っておくべき知見だと感じました．</a:t>
            </a:r>
            <a:endParaRPr lang="" altLang="en-US"/>
          </a:p>
          <a:p>
            <a:r>
              <a:rPr lang="" altLang="en-US"/>
              <a:t>おそらくロープ以外のシミュレーションでも，当てはまる思うのでロープを括弧で包含してあります</a:t>
            </a:r>
            <a:endParaRPr lang="en-US"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true"/>
          <p:nvPr/>
        </p:nvSpPr>
        <p:spPr>
          <a:xfrm>
            <a:off x="647700" y="1584325"/>
            <a:ext cx="10825480" cy="5169535"/>
          </a:xfrm>
          <a:prstGeom prst="rect">
            <a:avLst/>
          </a:prstGeom>
          <a:noFill/>
        </p:spPr>
        <p:txBody>
          <a:bodyPr wrap="square" rtlCol="0">
            <a:spAutoFit/>
          </a:bodyPr>
          <a:p>
            <a:r>
              <a:rPr lang="en-US" altLang="en-US" u="sng"/>
              <a:t>これは何</a:t>
            </a:r>
            <a:endParaRPr lang="en-US" altLang="en-US"/>
          </a:p>
          <a:p>
            <a:r>
              <a:rPr lang="" altLang="en-US"/>
              <a:t>主にラスアス2のキャラクターアセット制作で使用された技術(特にリグ)についての解説</a:t>
            </a:r>
            <a:endParaRPr lang="" altLang="en-US"/>
          </a:p>
          <a:p>
            <a:r>
              <a:rPr lang="" altLang="en-US"/>
              <a:t>Facial Action Coding[*1]によるフェイシャルキャプチャの評価,</a:t>
            </a:r>
            <a:endParaRPr lang="" altLang="en-US"/>
          </a:p>
          <a:p>
            <a:r>
              <a:rPr lang="" altLang="en-US"/>
              <a:t>Smooth Skinning Decomposition[*2] 	によるフェイシャル, </a:t>
            </a:r>
            <a:endParaRPr lang="" altLang="en-US"/>
          </a:p>
          <a:p>
            <a:r>
              <a:rPr lang="" altLang="en-US"/>
              <a:t>LoDとプロシージャルリグについての自動化, </a:t>
            </a:r>
            <a:endParaRPr lang="" altLang="en-US"/>
          </a:p>
          <a:p>
            <a:r>
              <a:rPr lang="" altLang="en-US"/>
              <a:t>使い回し易い欠損・ゴアシステムなどかなり包括的な話題)</a:t>
            </a:r>
            <a:endParaRPr lang="" altLang="en-US"/>
          </a:p>
          <a:p>
            <a:r>
              <a:rPr lang="en-US" altLang="en-US">
                <a:sym typeface="+mn-ea"/>
              </a:rPr>
              <a:t>最後にナップザック</a:t>
            </a:r>
            <a:r>
              <a:rPr lang="" altLang="en-US">
                <a:sym typeface="+mn-ea"/>
              </a:rPr>
              <a:t>に使用されている</a:t>
            </a:r>
            <a:r>
              <a:rPr lang="en-US" altLang="en-US">
                <a:sym typeface="+mn-ea"/>
              </a:rPr>
              <a:t>物理の話がある</a:t>
            </a:r>
            <a:r>
              <a:rPr lang="" altLang="en-US">
                <a:sym typeface="+mn-ea"/>
              </a:rPr>
              <a:t>.</a:t>
            </a:r>
            <a:endParaRPr lang="" altLang="en-US">
              <a:sym typeface="+mn-ea"/>
            </a:endParaRPr>
          </a:p>
          <a:p>
            <a:endParaRPr lang="" altLang="en-US" u="sng"/>
          </a:p>
          <a:p>
            <a:r>
              <a:rPr lang="" altLang="en-US" u="sng"/>
              <a:t>ナップザックの物理ベースアニメーション</a:t>
            </a:r>
            <a:endParaRPr lang="" altLang="en-US" u="sng"/>
          </a:p>
          <a:p>
            <a:r>
              <a:rPr lang="" altLang="en-US"/>
              <a:t>主人公のナップザック，装備された武器や主人公の髪についても剛体シミュレーションを適用．</a:t>
            </a:r>
            <a:endParaRPr lang="" altLang="en-US"/>
          </a:p>
          <a:p>
            <a:r>
              <a:rPr lang="" altLang="en-US"/>
              <a:t>ライフルのストラップにもリグを入れて，武器の換装時にも物理演算を使用．</a:t>
            </a:r>
            <a:endParaRPr lang="" altLang="en-US"/>
          </a:p>
          <a:p>
            <a:r>
              <a:rPr lang="" altLang="en-US"/>
              <a:t>衝突による相互的なインタラクションや風による影響まで表現．</a:t>
            </a:r>
            <a:endParaRPr lang="" altLang="en-US"/>
          </a:p>
          <a:p>
            <a:r>
              <a:rPr lang="" altLang="en-US"/>
              <a:t>→ナップザックもキャラクターの一部ではなくてキャラクター</a:t>
            </a:r>
            <a:endParaRPr lang="en-US" altLang="en-US"/>
          </a:p>
          <a:p>
            <a:endParaRPr lang="en-US" altLang="en-US"/>
          </a:p>
          <a:p>
            <a:endParaRPr lang="en-US" altLang="en-US"/>
          </a:p>
          <a:p>
            <a:endParaRPr lang="en-US" altLang="en-US"/>
          </a:p>
          <a:p>
            <a:r>
              <a:rPr lang="en-US" altLang="en-US"/>
              <a:t>[</a:t>
            </a:r>
            <a:r>
              <a:rPr lang="en-US" altLang="en-US" sz="1200"/>
              <a:t>表情分析入門: FACS（Facial Action Coding System）とは - Qiita](</a:t>
            </a:r>
            <a:endParaRPr lang="en-US" altLang="en-US" sz="1200"/>
          </a:p>
          <a:p>
            <a:r>
              <a:rPr lang="en-US" altLang="en-US" sz="1200"/>
              <a:t>https://qiita.com/Takuya-Shuto-engineer/items/2a8958b19305e1a228e2)</a:t>
            </a:r>
            <a:endParaRPr lang="en-US" altLang="en-US" sz="1200"/>
          </a:p>
          <a:p>
            <a:r>
              <a:rPr lang="en-US" altLang="en-US" sz="1200"/>
              <a:t>[Smooth Skinning Decomposition with Rigid Bones](http://graphics.cs.uh.edu/ble/papers/2012sa-ssdr/)</a:t>
            </a:r>
            <a:endParaRPr lang="en-US" altLang="en-US" sz="1200"/>
          </a:p>
        </p:txBody>
      </p:sp>
      <p:sp>
        <p:nvSpPr>
          <p:cNvPr id="2" name="Title 1"/>
          <p:cNvSpPr>
            <a:spLocks noGrp="true"/>
          </p:cNvSpPr>
          <p:nvPr>
            <p:ph type="title"/>
          </p:nvPr>
        </p:nvSpPr>
        <p:spPr/>
        <p:txBody>
          <a:bodyPr/>
          <a:p>
            <a:r>
              <a:rPr lang="" altLang="en-US">
                <a:effectLst/>
              </a:rPr>
              <a:t>Charactor Tecnology of ‘THE LAST OF US PART Ⅱ’ </a:t>
            </a:r>
            <a:endParaRPr lang="" altLang="en-US">
              <a:effectLst/>
            </a:endParaRPr>
          </a:p>
        </p:txBody>
      </p:sp>
      <p:pic>
        <p:nvPicPr>
          <p:cNvPr id="6" name="Picture 5" descr="44e826a8448d9d793900910a9991"/>
          <p:cNvPicPr>
            <a:picLocks noChangeAspect="true"/>
          </p:cNvPicPr>
          <p:nvPr/>
        </p:nvPicPr>
        <p:blipFill>
          <a:blip r:embed="rId1"/>
          <a:stretch>
            <a:fillRect/>
          </a:stretch>
        </p:blipFill>
        <p:spPr>
          <a:xfrm>
            <a:off x="8238490" y="4785360"/>
            <a:ext cx="3234690" cy="181991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 altLang="en-US">
                <a:effectLst/>
              </a:rPr>
              <a:t>その他 LAST OF US2に関するセッション</a:t>
            </a:r>
            <a:endParaRPr lang="" altLang="en-US">
              <a:effectLst/>
            </a:endParaRPr>
          </a:p>
        </p:txBody>
      </p:sp>
      <p:sp>
        <p:nvSpPr>
          <p:cNvPr id="4" name="Text Box 3"/>
          <p:cNvSpPr txBox="true"/>
          <p:nvPr/>
        </p:nvSpPr>
        <p:spPr>
          <a:xfrm>
            <a:off x="647700" y="1584325"/>
            <a:ext cx="11318875" cy="5354320"/>
          </a:xfrm>
          <a:prstGeom prst="rect">
            <a:avLst/>
          </a:prstGeom>
          <a:noFill/>
        </p:spPr>
        <p:txBody>
          <a:bodyPr wrap="square" rtlCol="0">
            <a:spAutoFit/>
          </a:bodyPr>
          <a:p>
            <a:r>
              <a:rPr lang="en-US" altLang="en-US" u="sng">
                <a:effectLst/>
                <a:sym typeface="+mn-ea"/>
              </a:rPr>
              <a:t>Motion Matching in 'The Last of Us Part II' </a:t>
            </a:r>
            <a:endParaRPr lang="en-US" altLang="en-US">
              <a:effectLst/>
            </a:endParaRPr>
          </a:p>
          <a:p>
            <a:r>
              <a:rPr lang="" altLang="en-US"/>
              <a:t>→ 人間だけでなく犬や馬のロコモーションにもモーションマッチングを適用していたのが印象的．</a:t>
            </a:r>
            <a:endParaRPr lang="" altLang="en-US" u="sng"/>
          </a:p>
          <a:p>
            <a:r>
              <a:rPr lang="en-US" altLang="en-US" u="sng"/>
              <a:t>MELEE AI IN 'THE LAST OF US PART II'</a:t>
            </a:r>
            <a:endParaRPr lang="en-US" altLang="en-US" u="sng"/>
          </a:p>
          <a:p>
            <a:r>
              <a:rPr lang="" altLang="en-US"/>
              <a:t>→NaugtyDogの高いクオリティの近接戦闘を実現するためのケーススタディで紹介</a:t>
            </a:r>
            <a:endParaRPr lang="" altLang="en-US"/>
          </a:p>
          <a:p>
            <a:r>
              <a:rPr lang="en-US" altLang="en-US" u="sng"/>
              <a:t>BRINGING ALLIES TO LIFE IN THE 'LAST OF US PART II'</a:t>
            </a:r>
            <a:endParaRPr lang="en-US" altLang="en-US" u="sng"/>
          </a:p>
          <a:p>
            <a:r>
              <a:rPr lang="" altLang="en-US" u="sng"/>
              <a:t>→</a:t>
            </a:r>
            <a:r>
              <a:rPr lang="en-US" altLang="en-US">
                <a:sym typeface="+mn-ea"/>
              </a:rPr>
              <a:t>ゲーム中のプレイヤーと</a:t>
            </a:r>
            <a:r>
              <a:rPr lang="" altLang="en-US">
                <a:sym typeface="+mn-ea"/>
              </a:rPr>
              <a:t>同行</a:t>
            </a:r>
            <a:r>
              <a:rPr lang="en-US" altLang="en-US">
                <a:sym typeface="+mn-ea"/>
              </a:rPr>
              <a:t>するNPCのインタラクションの作り込みをケーススタディで紹介</a:t>
            </a:r>
            <a:endParaRPr lang="en-US" altLang="en-US">
              <a:sym typeface="+mn-ea"/>
            </a:endParaRPr>
          </a:p>
          <a:p>
            <a:r>
              <a:rPr lang="en-US" altLang="en-US" u="sng">
                <a:sym typeface="+mn-ea"/>
              </a:rPr>
              <a:t>DRIVING INNOVATION: A NEW VEHICLE PIPELINE FOR 'THE LAST OF US: PART II'</a:t>
            </a:r>
            <a:endParaRPr lang="en-US" altLang="en-US" u="sng"/>
          </a:p>
          <a:p>
            <a:r>
              <a:rPr lang="en-US" altLang="en-US">
                <a:sym typeface="+mn-ea"/>
              </a:rPr>
              <a:t>→</a:t>
            </a:r>
            <a:r>
              <a:rPr lang="" altLang="en-US">
                <a:sym typeface="+mn-ea"/>
              </a:rPr>
              <a:t>迅速な制作かつ省メモリな乗り物を実現するためのアセット制作パイプライン</a:t>
            </a:r>
            <a:endParaRPr lang="en-US" altLang="en-US" u="sng">
              <a:sym typeface="+mn-ea"/>
            </a:endParaRPr>
          </a:p>
          <a:p>
            <a:r>
              <a:rPr lang="en-US" altLang="en-US" u="sng"/>
              <a:t>EMOTIONAL SYSTEMIC FACIAL OF 'LAST OF US PART II'</a:t>
            </a:r>
            <a:endParaRPr lang="en-US" altLang="en-US" u="sng"/>
          </a:p>
          <a:p>
            <a:r>
              <a:rPr lang="" altLang="en-US" u="sng"/>
              <a:t>→</a:t>
            </a:r>
            <a:r>
              <a:rPr lang="" altLang="en-US"/>
              <a:t>13カ国語を話す65人以上のキャラクターに最大20の感情を持たせたシステム的な感情システムを開発</a:t>
            </a:r>
            <a:endParaRPr lang="" altLang="en-US" u="sng"/>
          </a:p>
          <a:p>
            <a:r>
              <a:rPr lang="en-US" altLang="en-US" u="sng"/>
              <a:t>"SWIPING ON THE SIX STRINGS</a:t>
            </a:r>
            <a:r>
              <a:rPr lang="" altLang="en-US" u="sng"/>
              <a:t>”</a:t>
            </a:r>
            <a:r>
              <a:rPr lang="en-US" altLang="en-US" u="sng"/>
              <a:t>:</a:t>
            </a:r>
            <a:r>
              <a:rPr lang="" altLang="en-US" u="sng"/>
              <a:t> </a:t>
            </a:r>
            <a:r>
              <a:rPr lang="en-US" altLang="en-US" u="sng"/>
              <a:t>CRAFTING AN INTERACTIVE GUITAR IN 'THE LAST OF US: PART II'</a:t>
            </a:r>
            <a:endParaRPr lang="en-US" altLang="en-US" u="sng"/>
          </a:p>
          <a:p>
            <a:r>
              <a:rPr lang="" altLang="en-US"/>
              <a:t>→ラスアス2のミニゲームで登場するギター演奏のミニゲームに関する話題</a:t>
            </a:r>
            <a:endParaRPr lang="en-US" altLang="en-US" u="sng"/>
          </a:p>
          <a:p>
            <a:r>
              <a:rPr lang="en-US" altLang="en-US" u="sng"/>
              <a:t>CREATIVE AND EXPERIMENTAL VFX IN 'THE LAST OF US PART II'</a:t>
            </a:r>
            <a:endParaRPr lang="en-US" altLang="en-US" u="sng"/>
          </a:p>
          <a:p>
            <a:r>
              <a:rPr lang="" altLang="en-US"/>
              <a:t>→</a:t>
            </a:r>
            <a:r>
              <a:rPr lang="en-US" altLang="en-US">
                <a:sym typeface="+mn-ea"/>
              </a:rPr>
              <a:t>水面のさざ波とビーチの波、微粒子のDoFに関するケーススタディ</a:t>
            </a:r>
            <a:endParaRPr lang="" altLang="en-US" u="sng"/>
          </a:p>
          <a:p>
            <a:r>
              <a:rPr lang="" altLang="en-US" u="sng"/>
              <a:t>所感：</a:t>
            </a:r>
            <a:endParaRPr lang="" altLang="en-US" u="sng"/>
          </a:p>
          <a:p>
            <a:r>
              <a:rPr lang="" altLang="en-US" b="1">
                <a:solidFill>
                  <a:srgbClr val="FF0000"/>
                </a:solidFill>
              </a:rPr>
              <a:t>正直ラスアス2どんだけ作り込んでるんだ．．．</a:t>
            </a:r>
            <a:r>
              <a:rPr lang="" altLang="en-US"/>
              <a:t>という印象です．</a:t>
            </a:r>
            <a:endParaRPr lang="" altLang="en-US"/>
          </a:p>
          <a:p>
            <a:r>
              <a:rPr lang="" altLang="en-US"/>
              <a:t>おそらくGDC2021に参加して</a:t>
            </a:r>
            <a:r>
              <a:rPr lang="" altLang="en-US" u="sng"/>
              <a:t>最も刺激になった部分です</a:t>
            </a:r>
            <a:r>
              <a:rPr lang="" altLang="en-US"/>
              <a:t>．</a:t>
            </a:r>
            <a:endParaRPr lang="" altLang="en-US"/>
          </a:p>
          <a:p>
            <a:r>
              <a:rPr lang="" altLang="en-US"/>
              <a:t>作り込みの程度には賛否ありそうですが，いつかこういうゲームに携わってGDCに行ってみたいですね．</a:t>
            </a:r>
            <a:endParaRPr lang="" altLang="en-US"/>
          </a:p>
          <a:p>
            <a:r>
              <a:rPr lang="" altLang="en-US"/>
              <a:t>あとNaugtyDogのセッションでちょくちょく出てくるLispがカッコいい．</a:t>
            </a:r>
            <a:endParaRPr lang=""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 altLang="en-US">
                <a:effectLst/>
              </a:rPr>
              <a:t>Animation Summit: Take ‘CONTOL’ of Animation(1/4)</a:t>
            </a:r>
            <a:endParaRPr lang="" altLang="en-US">
              <a:effectLst/>
            </a:endParaRPr>
          </a:p>
        </p:txBody>
      </p:sp>
      <p:sp>
        <p:nvSpPr>
          <p:cNvPr id="4" name="Text Box 3"/>
          <p:cNvSpPr txBox="true"/>
          <p:nvPr/>
        </p:nvSpPr>
        <p:spPr>
          <a:xfrm>
            <a:off x="647700" y="1584325"/>
            <a:ext cx="10825480" cy="3415030"/>
          </a:xfrm>
          <a:prstGeom prst="rect">
            <a:avLst/>
          </a:prstGeom>
          <a:noFill/>
        </p:spPr>
        <p:txBody>
          <a:bodyPr wrap="square" rtlCol="0">
            <a:spAutoFit/>
          </a:bodyPr>
          <a:p>
            <a:r>
              <a:rPr lang="en-US" altLang="en-US" u="sng"/>
              <a:t>これは何</a:t>
            </a:r>
            <a:endParaRPr lang="en-US" altLang="en-US"/>
          </a:p>
          <a:p>
            <a:r>
              <a:rPr lang="en-US" altLang="en-US">
                <a:effectLst/>
                <a:sym typeface="+mn-ea"/>
              </a:rPr>
              <a:t>CONTOL</a:t>
            </a:r>
            <a:r>
              <a:rPr lang="" altLang="en-US">
                <a:effectLst/>
                <a:sym typeface="+mn-ea"/>
              </a:rPr>
              <a:t>で採用された</a:t>
            </a:r>
            <a:r>
              <a:rPr lang="" altLang="en-US"/>
              <a:t>モーションマッチングの話題．</a:t>
            </a:r>
            <a:endParaRPr lang="" altLang="en-US"/>
          </a:p>
          <a:p>
            <a:r>
              <a:rPr lang="" altLang="en-US"/>
              <a:t>前半：コード駆動かつアニメーターが扱い易い内製ツールの話題．</a:t>
            </a:r>
            <a:endParaRPr lang="en-US" altLang="en-US"/>
          </a:p>
          <a:p>
            <a:r>
              <a:rPr lang="" altLang="en-US"/>
              <a:t>後半：アニメーター視点でのモーションマッチングの運用の話題</a:t>
            </a:r>
            <a:endParaRPr lang="" altLang="en-US"/>
          </a:p>
          <a:p>
            <a:endParaRPr lang="en-US" altLang="en-US"/>
          </a:p>
          <a:p>
            <a:r>
              <a:rPr lang="" altLang="en-US" u="sng"/>
              <a:t>Controlでモーションマッチングを採用する</a:t>
            </a:r>
            <a:r>
              <a:rPr lang="en-US" altLang="en-US" u="sng"/>
              <a:t>モチベーション</a:t>
            </a:r>
            <a:endParaRPr lang="en-US" altLang="en-US" u="sng"/>
          </a:p>
          <a:p>
            <a:r>
              <a:rPr lang="" altLang="en-US"/>
              <a:t>Quantum Break(前作)と比較してアニメーションにおいて以下の要求があった．</a:t>
            </a:r>
            <a:endParaRPr lang="" altLang="en-US"/>
          </a:p>
          <a:p>
            <a:r>
              <a:rPr lang="" altLang="en-US"/>
              <a:t>超能力によるアクションの多様性(超能力で飛びながら移動，念力で遠くのものを動かす)</a:t>
            </a:r>
            <a:endParaRPr lang="en-US" altLang="en-US"/>
          </a:p>
          <a:p>
            <a:r>
              <a:rPr lang="" altLang="en-US"/>
              <a:t>アニメーションによりゲームプレイを向上させる(応答性の向上，妥協の禁止，扱う敵の増加)</a:t>
            </a:r>
            <a:endParaRPr lang="en-US" altLang="en-US"/>
          </a:p>
          <a:p>
            <a:r>
              <a:rPr lang="" altLang="en-US"/>
              <a:t>→ 応答性を向上させるためにコード駆動でのアニメーション管理(FSMではやってられない)</a:t>
            </a:r>
            <a:endParaRPr lang="" altLang="en-US"/>
          </a:p>
          <a:p>
            <a:r>
              <a:rPr lang="" altLang="en-US"/>
              <a:t>&amp;デザイナーでも用意にイテレーションを重ねることができるツールの開発</a:t>
            </a:r>
            <a:endParaRPr lang="" altLang="en-US"/>
          </a:p>
          <a:p>
            <a:r>
              <a:rPr lang="" altLang="en-US"/>
              <a:t>→→モーションマッチングという選択肢</a:t>
            </a:r>
            <a:endParaRPr lang="en-US" altLang="en-US"/>
          </a:p>
        </p:txBody>
      </p:sp>
      <p:pic>
        <p:nvPicPr>
          <p:cNvPr id="3" name="Picture 2" descr="top__id1566811124_343178"/>
          <p:cNvPicPr>
            <a:picLocks noChangeAspect="true"/>
          </p:cNvPicPr>
          <p:nvPr/>
        </p:nvPicPr>
        <p:blipFill>
          <a:blip r:embed="rId1"/>
          <a:stretch>
            <a:fillRect/>
          </a:stretch>
        </p:blipFill>
        <p:spPr>
          <a:xfrm>
            <a:off x="647700" y="4999355"/>
            <a:ext cx="4719320" cy="1786255"/>
          </a:xfrm>
          <a:prstGeom prst="rect">
            <a:avLst/>
          </a:prstGeom>
        </p:spPr>
      </p:pic>
      <p:sp>
        <p:nvSpPr>
          <p:cNvPr id="5" name="Text Box 4"/>
          <p:cNvSpPr txBox="true"/>
          <p:nvPr/>
        </p:nvSpPr>
        <p:spPr>
          <a:xfrm>
            <a:off x="5367020" y="6417310"/>
            <a:ext cx="4635500" cy="368300"/>
          </a:xfrm>
          <a:prstGeom prst="rect">
            <a:avLst/>
          </a:prstGeom>
          <a:noFill/>
        </p:spPr>
        <p:txBody>
          <a:bodyPr wrap="square" rtlCol="0" anchor="t">
            <a:spAutoFit/>
          </a:bodyPr>
          <a:p>
            <a:r>
              <a:rPr lang="" altLang="en-US"/>
              <a:t>CONTOL</a:t>
            </a:r>
            <a:endParaRPr lang=""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Summit: Take ‘CONTOL’ of Animation</a:t>
            </a:r>
            <a:r>
              <a:rPr lang="" altLang="en-US">
                <a:effectLst/>
              </a:rPr>
              <a:t>(2/4)</a:t>
            </a:r>
            <a:endParaRPr lang="" altLang="en-US">
              <a:effectLst/>
            </a:endParaRPr>
          </a:p>
        </p:txBody>
      </p:sp>
      <p:sp>
        <p:nvSpPr>
          <p:cNvPr id="4" name="Text Box 3"/>
          <p:cNvSpPr txBox="true"/>
          <p:nvPr/>
        </p:nvSpPr>
        <p:spPr>
          <a:xfrm>
            <a:off x="647700" y="1584325"/>
            <a:ext cx="10825480" cy="4523105"/>
          </a:xfrm>
          <a:prstGeom prst="rect">
            <a:avLst/>
          </a:prstGeom>
          <a:noFill/>
        </p:spPr>
        <p:txBody>
          <a:bodyPr wrap="square" rtlCol="0">
            <a:spAutoFit/>
          </a:bodyPr>
          <a:p>
            <a:r>
              <a:rPr lang="" altLang="en-US" u="sng"/>
              <a:t>内製ツール開発へのモチベーション</a:t>
            </a:r>
            <a:endParaRPr lang="" altLang="en-US"/>
          </a:p>
          <a:p>
            <a:r>
              <a:rPr lang="" altLang="en-US"/>
              <a:t>FSMでのアニメーション管理が複雑(quantum breakではキャラクターで10000ノードを超える)</a:t>
            </a:r>
            <a:endParaRPr lang="" altLang="en-US"/>
          </a:p>
          <a:p>
            <a:r>
              <a:rPr lang="" altLang="en-US"/>
              <a:t>Morphemeのノードとしてモーションマッチングのプロトタイプを実装．</a:t>
            </a:r>
            <a:endParaRPr lang="" altLang="en-US"/>
          </a:p>
          <a:p>
            <a:r>
              <a:rPr lang="" altLang="en-US"/>
              <a:t>→ </a:t>
            </a:r>
            <a:r>
              <a:rPr lang="en-US" altLang="en-US">
                <a:sym typeface="+mn-ea"/>
              </a:rPr>
              <a:t>Morpheme</a:t>
            </a:r>
            <a:r>
              <a:rPr lang="" altLang="en-US">
                <a:sym typeface="+mn-ea"/>
              </a:rPr>
              <a:t>が市場から消える．</a:t>
            </a:r>
            <a:endParaRPr lang="" altLang="en-US">
              <a:sym typeface="+mn-ea"/>
            </a:endParaRPr>
          </a:p>
          <a:p>
            <a:endParaRPr lang="" altLang="en-US">
              <a:sym typeface="+mn-ea"/>
            </a:endParaRPr>
          </a:p>
          <a:p>
            <a:r>
              <a:rPr lang="" altLang="en-US" u="sng">
                <a:sym typeface="+mn-ea"/>
              </a:rPr>
              <a:t>内製ツール：</a:t>
            </a:r>
            <a:endParaRPr lang="" altLang="en-US" u="sng">
              <a:sym typeface="+mn-ea"/>
            </a:endParaRPr>
          </a:p>
          <a:p>
            <a:r>
              <a:rPr lang="en-US" altLang="en-US">
                <a:sym typeface="+mn-ea"/>
              </a:rPr>
              <a:t>Morpheme</a:t>
            </a:r>
            <a:r>
              <a:rPr lang="" altLang="en-US">
                <a:sym typeface="+mn-ea"/>
              </a:rPr>
              <a:t>の機能を一部取り込む</a:t>
            </a:r>
            <a:endParaRPr lang="" altLang="en-US">
              <a:sym typeface="+mn-ea"/>
            </a:endParaRPr>
          </a:p>
          <a:p>
            <a:r>
              <a:rPr lang="" altLang="en-US"/>
              <a:t>モーションマッチングをコア機能に取り込むことで</a:t>
            </a:r>
            <a:endParaRPr lang="" altLang="en-US"/>
          </a:p>
          <a:p>
            <a:r>
              <a:rPr lang="" altLang="en-US"/>
              <a:t>FSMでの管理の廃止してブレンドツリーと</a:t>
            </a:r>
            <a:r>
              <a:rPr lang="en-US" altLang="en-US">
                <a:sym typeface="+mn-ea"/>
              </a:rPr>
              <a:t>エクスプレッション</a:t>
            </a:r>
            <a:r>
              <a:rPr lang="" altLang="en-US"/>
              <a:t>でアニメーションを管理</a:t>
            </a:r>
            <a:endParaRPr lang="" altLang="en-US"/>
          </a:p>
          <a:p>
            <a:r>
              <a:rPr lang="" altLang="en-US"/>
              <a:t>グラフにレイヤーを導入し，並列作業を可能にした．</a:t>
            </a:r>
            <a:endParaRPr lang="" altLang="en-US"/>
          </a:p>
          <a:p>
            <a:r>
              <a:rPr lang="" altLang="en-US"/>
              <a:t>コード駆動でもデザイナーが使い易いツールの開発</a:t>
            </a:r>
            <a:endParaRPr lang="" altLang="en-US"/>
          </a:p>
          <a:p>
            <a:r>
              <a:rPr lang="" altLang="en-US"/>
              <a:t>→ 6ヶ月でE3のデモを開発</a:t>
            </a:r>
            <a:endParaRPr lang="" altLang="en-US" u="sng"/>
          </a:p>
          <a:p>
            <a:endParaRPr lang="" altLang="en-US" u="sng"/>
          </a:p>
          <a:p>
            <a:endParaRPr lang="en-US" altLang="en-US"/>
          </a:p>
          <a:p>
            <a:endParaRPr lang="en-US" altLang="en-US"/>
          </a:p>
          <a:p>
            <a:endParaRPr lang="en-US"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Summit: Take ‘CONTOL’ of Animation</a:t>
            </a:r>
            <a:r>
              <a:rPr lang="" altLang="en-US">
                <a:effectLst/>
              </a:rPr>
              <a:t>(3/4)</a:t>
            </a:r>
            <a:endParaRPr lang="" altLang="en-US">
              <a:effectLst/>
            </a:endParaRPr>
          </a:p>
        </p:txBody>
      </p:sp>
      <p:sp>
        <p:nvSpPr>
          <p:cNvPr id="4" name="Text Box 3"/>
          <p:cNvSpPr txBox="true"/>
          <p:nvPr/>
        </p:nvSpPr>
        <p:spPr>
          <a:xfrm>
            <a:off x="647700" y="1584325"/>
            <a:ext cx="10825480" cy="4246245"/>
          </a:xfrm>
          <a:prstGeom prst="rect">
            <a:avLst/>
          </a:prstGeom>
          <a:noFill/>
        </p:spPr>
        <p:txBody>
          <a:bodyPr wrap="square" rtlCol="0">
            <a:spAutoFit/>
          </a:bodyPr>
          <a:p>
            <a:r>
              <a:rPr lang="" altLang="en-US" u="sng"/>
              <a:t>モーションマッチングの運用(E3まで)</a:t>
            </a:r>
            <a:endParaRPr lang="en-US" altLang="en-US" u="sng"/>
          </a:p>
          <a:p>
            <a:r>
              <a:rPr lang="" altLang="en-US"/>
              <a:t>テストのデータセットのロコモーションでは80%のクオリティ</a:t>
            </a:r>
            <a:endParaRPr lang="" altLang="en-US"/>
          </a:p>
          <a:p>
            <a:r>
              <a:rPr lang="" altLang="en-US"/>
              <a:t>課題(うまく行かない例)：</a:t>
            </a:r>
            <a:endParaRPr lang="" altLang="en-US"/>
          </a:p>
          <a:p>
            <a:r>
              <a:rPr lang="" altLang="en-US"/>
              <a:t>・スタート，ストップ，スライディングのアニメーション</a:t>
            </a:r>
            <a:endParaRPr lang="en-US" altLang="en-US" u="sng"/>
          </a:p>
          <a:p>
            <a:r>
              <a:rPr lang="" altLang="en-US">
                <a:sym typeface="+mn-ea"/>
              </a:rPr>
              <a:t>→ データセットの最適化</a:t>
            </a:r>
            <a:endParaRPr lang="" altLang="en-US">
              <a:sym typeface="+mn-ea"/>
            </a:endParaRPr>
          </a:p>
          <a:p>
            <a:r>
              <a:rPr lang="" altLang="en-US">
                <a:sym typeface="+mn-ea"/>
              </a:rPr>
              <a:t>・時おりキャラクターが立ち往生する．</a:t>
            </a:r>
            <a:endParaRPr lang="" altLang="en-US">
              <a:sym typeface="+mn-ea"/>
            </a:endParaRPr>
          </a:p>
          <a:p>
            <a:r>
              <a:rPr lang="" altLang="en-US">
                <a:sym typeface="+mn-ea"/>
              </a:rPr>
              <a:t>→モーションマッチングでの検索を無視にするフレームを設定する.(アニメーションの終了付近など)</a:t>
            </a:r>
            <a:endParaRPr lang="" altLang="en-US">
              <a:sym typeface="+mn-ea"/>
            </a:endParaRPr>
          </a:p>
          <a:p>
            <a:endParaRPr lang="en-US" altLang="en-US" u="sng">
              <a:sym typeface="+mn-ea"/>
            </a:endParaRPr>
          </a:p>
          <a:p>
            <a:r>
              <a:rPr lang="en-US" altLang="en-US" u="sng">
                <a:sym typeface="+mn-ea"/>
              </a:rPr>
              <a:t>モーションマッチングの運用(E3</a:t>
            </a:r>
            <a:r>
              <a:rPr lang="" altLang="en-US" u="sng">
                <a:sym typeface="+mn-ea"/>
              </a:rPr>
              <a:t>後</a:t>
            </a:r>
            <a:r>
              <a:rPr lang="en-US" altLang="en-US" u="sng">
                <a:sym typeface="+mn-ea"/>
              </a:rPr>
              <a:t>)</a:t>
            </a:r>
            <a:endParaRPr lang="en-US" altLang="en-US" u="sng">
              <a:sym typeface="+mn-ea"/>
            </a:endParaRPr>
          </a:p>
          <a:p>
            <a:r>
              <a:rPr lang="" altLang="en-US">
                <a:sym typeface="+mn-ea"/>
              </a:rPr>
              <a:t>モーションマッチングを使用して</a:t>
            </a:r>
            <a:r>
              <a:rPr lang="en-US" altLang="en-US">
                <a:sym typeface="+mn-ea"/>
              </a:rPr>
              <a:t>アニメーションによ</a:t>
            </a:r>
            <a:r>
              <a:rPr lang="" altLang="en-US">
                <a:sym typeface="+mn-ea"/>
              </a:rPr>
              <a:t>る</a:t>
            </a:r>
            <a:r>
              <a:rPr lang="en-US" altLang="en-US">
                <a:sym typeface="+mn-ea"/>
              </a:rPr>
              <a:t>ゲームプレイ</a:t>
            </a:r>
            <a:r>
              <a:rPr lang="" altLang="en-US">
                <a:sym typeface="+mn-ea"/>
              </a:rPr>
              <a:t>の</a:t>
            </a:r>
            <a:r>
              <a:rPr lang="en-US" altLang="en-US">
                <a:sym typeface="+mn-ea"/>
              </a:rPr>
              <a:t>向上</a:t>
            </a:r>
            <a:r>
              <a:rPr lang="" altLang="en-US">
                <a:sym typeface="+mn-ea"/>
              </a:rPr>
              <a:t>を確認出来た．</a:t>
            </a:r>
            <a:endParaRPr lang="" altLang="en-US">
              <a:sym typeface="+mn-ea"/>
            </a:endParaRPr>
          </a:p>
          <a:p>
            <a:r>
              <a:rPr lang="" altLang="en-US"/>
              <a:t>課題：</a:t>
            </a:r>
            <a:endParaRPr lang="" altLang="en-US"/>
          </a:p>
          <a:p>
            <a:r>
              <a:rPr lang="" altLang="en-US"/>
              <a:t>・モーションマッチングのデバッグ</a:t>
            </a:r>
            <a:endParaRPr lang="" altLang="en-US"/>
          </a:p>
          <a:p>
            <a:r>
              <a:rPr lang="" altLang="en-US"/>
              <a:t>→ ビジュアルデバッガを作成(実行中にフレーム単位でマッチング情報確認，遷移のコストを変更)</a:t>
            </a:r>
            <a:endParaRPr lang="" altLang="en-US"/>
          </a:p>
          <a:p>
            <a:r>
              <a:rPr lang="" altLang="en-US"/>
              <a:t>→ マッチングのタグをカテゴリ化(エキスプレションで遷移のペナルティをカテゴリ単位で適用可能)</a:t>
            </a:r>
            <a:endParaRPr lang="" altLang="en-US"/>
          </a:p>
          <a:p>
            <a:r>
              <a:rPr lang="" altLang="en-US"/>
              <a:t>・その他掃射などのアニメーション固有のケースについての話題</a:t>
            </a:r>
            <a:endParaRPr lang=""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Summit: Take ‘CONTOL’ of Animation</a:t>
            </a:r>
            <a:r>
              <a:rPr lang="" altLang="en-US">
                <a:effectLst/>
              </a:rPr>
              <a:t>(4/4)</a:t>
            </a:r>
            <a:endParaRPr lang="" altLang="en-US">
              <a:effectLst/>
            </a:endParaRPr>
          </a:p>
        </p:txBody>
      </p:sp>
      <p:sp>
        <p:nvSpPr>
          <p:cNvPr id="4" name="Text Box 3"/>
          <p:cNvSpPr txBox="true"/>
          <p:nvPr/>
        </p:nvSpPr>
        <p:spPr>
          <a:xfrm>
            <a:off x="647700" y="1584325"/>
            <a:ext cx="10825480" cy="5077460"/>
          </a:xfrm>
          <a:prstGeom prst="rect">
            <a:avLst/>
          </a:prstGeom>
          <a:noFill/>
        </p:spPr>
        <p:txBody>
          <a:bodyPr wrap="square" rtlCol="0">
            <a:spAutoFit/>
          </a:bodyPr>
          <a:p>
            <a:r>
              <a:rPr lang="" altLang="en-US" u="sng"/>
              <a:t>終わりに</a:t>
            </a:r>
            <a:endParaRPr lang="en-US" altLang="en-US"/>
          </a:p>
          <a:p>
            <a:r>
              <a:rPr lang="" altLang="en-US"/>
              <a:t>最後にCONTROLの開発期間と展望が紹介されていた．</a:t>
            </a:r>
            <a:endParaRPr lang="" altLang="en-US"/>
          </a:p>
          <a:p>
            <a:r>
              <a:rPr lang="" altLang="en-US"/>
              <a:t>開発期間：</a:t>
            </a:r>
            <a:endParaRPr lang="" altLang="en-US"/>
          </a:p>
          <a:p>
            <a:r>
              <a:rPr lang="" altLang="en-US"/>
              <a:t>プリプロダクション期間を含めて3年の開発期間</a:t>
            </a:r>
            <a:endParaRPr lang="" altLang="en-US"/>
          </a:p>
          <a:p>
            <a:r>
              <a:rPr lang="" altLang="en-US"/>
              <a:t>・10-20時間のゲームプレイ</a:t>
            </a:r>
            <a:endParaRPr lang="" altLang="en-US"/>
          </a:p>
          <a:p>
            <a:r>
              <a:rPr lang="" altLang="en-US"/>
              <a:t>・11種類の敵のバリエーション</a:t>
            </a:r>
            <a:endParaRPr lang="" altLang="en-US"/>
          </a:p>
          <a:p>
            <a:r>
              <a:rPr lang="" altLang="en-US"/>
              <a:t>・ボスバトル</a:t>
            </a:r>
            <a:endParaRPr lang="" altLang="en-US"/>
          </a:p>
          <a:p>
            <a:r>
              <a:rPr lang="" altLang="en-US"/>
              <a:t>・25分程度のシネマティックシーン</a:t>
            </a:r>
            <a:endParaRPr lang="" altLang="en-US"/>
          </a:p>
          <a:p>
            <a:r>
              <a:rPr lang="" altLang="en-US"/>
              <a:t>・2.5時間の会話</a:t>
            </a:r>
            <a:endParaRPr lang="" altLang="en-US"/>
          </a:p>
          <a:p>
            <a:r>
              <a:rPr lang="" altLang="en-US"/>
              <a:t>展望：</a:t>
            </a:r>
            <a:endParaRPr lang="" altLang="en-US"/>
          </a:p>
          <a:p>
            <a:r>
              <a:rPr lang="" altLang="en-US"/>
              <a:t>距離ベースのマッチングを導入した</a:t>
            </a:r>
            <a:endParaRPr lang="" altLang="en-US"/>
          </a:p>
          <a:p>
            <a:r>
              <a:rPr lang="" altLang="en-US"/>
              <a:t>アニメーション駆動のモーションマッチングについて検証中であることが述べられていた．</a:t>
            </a:r>
            <a:endParaRPr lang="" altLang="en-US"/>
          </a:p>
          <a:p>
            <a:endParaRPr lang="en-US" altLang="en-US" u="sng"/>
          </a:p>
          <a:p>
            <a:r>
              <a:rPr lang="" altLang="en-US" u="sng"/>
              <a:t>所感：</a:t>
            </a:r>
            <a:endParaRPr lang="" altLang="en-US"/>
          </a:p>
          <a:p>
            <a:r>
              <a:rPr lang="" altLang="en-US"/>
              <a:t>業務ではラグドールを担当し，モーションマッチングを担当しているわけではありませんが，</a:t>
            </a:r>
            <a:endParaRPr lang="" altLang="en-US"/>
          </a:p>
          <a:p>
            <a:r>
              <a:rPr lang="" altLang="en-US" b="1">
                <a:solidFill>
                  <a:srgbClr val="FF0000"/>
                </a:solidFill>
              </a:rPr>
              <a:t>コード駆動かつデザイナーが使いやすいツール開発</a:t>
            </a:r>
            <a:r>
              <a:rPr lang="" altLang="en-US"/>
              <a:t>という枠組みで見てみると，</a:t>
            </a:r>
            <a:endParaRPr lang="" altLang="en-US"/>
          </a:p>
          <a:p>
            <a:r>
              <a:rPr lang="" altLang="en-US"/>
              <a:t>現在のREのラグドールが抱えている問題領域とかなり近いように感じました．</a:t>
            </a:r>
            <a:endParaRPr lang="" altLang="en-US"/>
          </a:p>
          <a:p>
            <a:r>
              <a:rPr lang="" altLang="en-US"/>
              <a:t>この知見を業務で活かしていけたらと思っています．</a:t>
            </a:r>
            <a:endParaRPr lang="en-US"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Summit: </a:t>
            </a:r>
            <a:r>
              <a:rPr lang="" altLang="en-US">
                <a:effectLst/>
              </a:rPr>
              <a:t>From Design: </a:t>
            </a:r>
            <a:br>
              <a:rPr lang="" altLang="en-US">
                <a:effectLst/>
              </a:rPr>
            </a:br>
            <a:r>
              <a:rPr lang="" altLang="en-US">
                <a:effectLst/>
              </a:rPr>
              <a:t>Full Procedural Animation for Mechs(1/2)</a:t>
            </a:r>
            <a:endParaRPr lang="" altLang="en-US">
              <a:effectLst/>
            </a:endParaRPr>
          </a:p>
        </p:txBody>
      </p:sp>
      <p:sp>
        <p:nvSpPr>
          <p:cNvPr id="4" name="Text Box 3"/>
          <p:cNvSpPr txBox="true"/>
          <p:nvPr/>
        </p:nvSpPr>
        <p:spPr>
          <a:xfrm>
            <a:off x="647700" y="1584325"/>
            <a:ext cx="10825480" cy="2861310"/>
          </a:xfrm>
          <a:prstGeom prst="rect">
            <a:avLst/>
          </a:prstGeom>
          <a:noFill/>
        </p:spPr>
        <p:txBody>
          <a:bodyPr wrap="square" rtlCol="0">
            <a:spAutoFit/>
          </a:bodyPr>
          <a:p>
            <a:r>
              <a:rPr lang="en-US" altLang="en-US" u="sng">
                <a:sym typeface="+mn-ea"/>
              </a:rPr>
              <a:t>これは何</a:t>
            </a:r>
            <a:endParaRPr lang="en-US" altLang="en-US"/>
          </a:p>
          <a:p>
            <a:r>
              <a:rPr lang="en-US" altLang="en-US">
                <a:sym typeface="+mn-ea"/>
              </a:rPr>
              <a:t>全身パーツをカスタマイズ可能な二足歩行メカ向けのプロシージャルアニメーションシステム</a:t>
            </a:r>
            <a:endParaRPr lang="en-US" altLang="en-US"/>
          </a:p>
          <a:p>
            <a:r>
              <a:rPr lang="en-US" altLang="en-US">
                <a:sym typeface="+mn-ea"/>
              </a:rPr>
              <a:t>(キーフレームアニメーションを必要としない)</a:t>
            </a:r>
            <a:endParaRPr lang="en-US" altLang="en-US"/>
          </a:p>
          <a:p>
            <a:r>
              <a:rPr lang="en-US" altLang="en-US">
                <a:sym typeface="+mn-ea"/>
              </a:rPr>
              <a:t>歩行</a:t>
            </a:r>
            <a:r>
              <a:rPr lang="" altLang="en-US">
                <a:sym typeface="+mn-ea"/>
              </a:rPr>
              <a:t>パターン生成</a:t>
            </a:r>
            <a:r>
              <a:rPr lang="en-US" altLang="en-US">
                <a:sym typeface="+mn-ea"/>
              </a:rPr>
              <a:t>と銃器のエイムについてのケーススタディ</a:t>
            </a:r>
            <a:endParaRPr lang="en-US" altLang="en-US">
              <a:sym typeface="+mn-ea"/>
            </a:endParaRPr>
          </a:p>
          <a:p>
            <a:endParaRPr lang="en-US" altLang="en-US"/>
          </a:p>
          <a:p>
            <a:r>
              <a:rPr lang="" altLang="en-US" u="sng">
                <a:sym typeface="+mn-ea"/>
              </a:rPr>
              <a:t>プロシージャルアニメーションを行うモチベーション</a:t>
            </a:r>
            <a:endParaRPr lang="en-US" altLang="en-US"/>
          </a:p>
          <a:p>
            <a:r>
              <a:rPr lang="en-US" altLang="en-US">
                <a:sym typeface="+mn-ea"/>
              </a:rPr>
              <a:t>全身</a:t>
            </a:r>
            <a:r>
              <a:rPr lang="en-US" altLang="en-US">
                <a:sym typeface="+mn-ea"/>
              </a:rPr>
              <a:t>パーツをカスタマイズが可能なメカ⇔最終的なジョイント構造が不定</a:t>
            </a:r>
            <a:endParaRPr lang="en-US" altLang="en-US">
              <a:sym typeface="+mn-ea"/>
            </a:endParaRPr>
          </a:p>
          <a:p>
            <a:r>
              <a:rPr lang="en-US" altLang="en-US">
                <a:sym typeface="+mn-ea"/>
              </a:rPr>
              <a:t>既存のアニメーションシステムでは対応不可能</a:t>
            </a:r>
            <a:endParaRPr lang="en-US" altLang="en-US">
              <a:sym typeface="+mn-ea"/>
            </a:endParaRPr>
          </a:p>
          <a:p>
            <a:r>
              <a:rPr lang="en-US" altLang="en-US">
                <a:sym typeface="+mn-ea"/>
              </a:rPr>
              <a:t>最終的なジョイント構造が不定でも歩行パターン生成とAimIkで解決</a:t>
            </a:r>
            <a:endParaRPr lang="en-US" altLang="en-US"/>
          </a:p>
          <a:p>
            <a:endParaRPr lang="en-US" altLang="en-US"/>
          </a:p>
        </p:txBody>
      </p:sp>
      <p:pic>
        <p:nvPicPr>
          <p:cNvPr id="3" name="Picture 2" descr="022"/>
          <p:cNvPicPr>
            <a:picLocks noChangeAspect="true"/>
          </p:cNvPicPr>
          <p:nvPr/>
        </p:nvPicPr>
        <p:blipFill>
          <a:blip r:embed="rId1"/>
          <a:srcRect l="13194" t="30506" r="13169" b="3254"/>
          <a:stretch>
            <a:fillRect/>
          </a:stretch>
        </p:blipFill>
        <p:spPr>
          <a:xfrm>
            <a:off x="647700" y="4244975"/>
            <a:ext cx="5055870" cy="2559050"/>
          </a:xfrm>
          <a:prstGeom prst="rect">
            <a:avLst/>
          </a:prstGeom>
        </p:spPr>
      </p:pic>
      <p:sp>
        <p:nvSpPr>
          <p:cNvPr id="5" name="Text Box 4"/>
          <p:cNvSpPr txBox="true"/>
          <p:nvPr/>
        </p:nvSpPr>
        <p:spPr>
          <a:xfrm>
            <a:off x="5703570" y="6435725"/>
            <a:ext cx="4635500" cy="368300"/>
          </a:xfrm>
          <a:prstGeom prst="rect">
            <a:avLst/>
          </a:prstGeom>
          <a:noFill/>
        </p:spPr>
        <p:txBody>
          <a:bodyPr wrap="square" rtlCol="0" anchor="t">
            <a:spAutoFit/>
          </a:bodyPr>
          <a:p>
            <a:r>
              <a:rPr lang="" altLang="en-US"/>
              <a:t>ジョイント構造が不定なモデル</a:t>
            </a:r>
            <a:endParaRPr lang=""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Summit: From Design: </a:t>
            </a:r>
            <a:br>
              <a:rPr lang="en-US" altLang="en-US">
                <a:effectLst/>
              </a:rPr>
            </a:br>
            <a:r>
              <a:rPr lang="en-US" altLang="en-US">
                <a:effectLst/>
              </a:rPr>
              <a:t>Full Procedural Animation for Mechs</a:t>
            </a:r>
            <a:r>
              <a:rPr lang="" altLang="en-US">
                <a:effectLst/>
              </a:rPr>
              <a:t>(2/2)</a:t>
            </a:r>
            <a:endParaRPr lang="" altLang="en-US">
              <a:effectLst/>
            </a:endParaRPr>
          </a:p>
        </p:txBody>
      </p:sp>
      <p:sp>
        <p:nvSpPr>
          <p:cNvPr id="4" name="Text Box 3"/>
          <p:cNvSpPr txBox="true"/>
          <p:nvPr/>
        </p:nvSpPr>
        <p:spPr>
          <a:xfrm>
            <a:off x="647700" y="1584325"/>
            <a:ext cx="10825480" cy="5077460"/>
          </a:xfrm>
          <a:prstGeom prst="rect">
            <a:avLst/>
          </a:prstGeom>
          <a:noFill/>
        </p:spPr>
        <p:txBody>
          <a:bodyPr wrap="square" rtlCol="0">
            <a:spAutoFit/>
          </a:bodyPr>
          <a:p>
            <a:r>
              <a:rPr lang="en-US" altLang="en-US" u="sng">
                <a:sym typeface="+mn-ea"/>
              </a:rPr>
              <a:t>メカのモデル</a:t>
            </a:r>
            <a:endParaRPr lang="en-US" altLang="en-US" u="sng"/>
          </a:p>
          <a:p>
            <a:r>
              <a:rPr lang="en-US" altLang="en-US">
                <a:sym typeface="+mn-ea"/>
              </a:rPr>
              <a:t>本セッションで扱うモデルは以下であった．</a:t>
            </a:r>
            <a:endParaRPr lang="en-US" altLang="en-US"/>
          </a:p>
          <a:p>
            <a:r>
              <a:rPr lang="en-US" altLang="en-US">
                <a:sym typeface="+mn-ea"/>
              </a:rPr>
              <a:t>・Mechs Model：2本足+2本腕+頭・胴体</a:t>
            </a:r>
            <a:endParaRPr lang="en-US" altLang="en-US"/>
          </a:p>
          <a:p>
            <a:r>
              <a:rPr lang="en-US" altLang="en-US">
                <a:sym typeface="+mn-ea"/>
              </a:rPr>
              <a:t>・Link ：Hinge拘束+回転角拘束からなる</a:t>
            </a:r>
            <a:endParaRPr lang="en-US" altLang="en-US"/>
          </a:p>
          <a:p>
            <a:r>
              <a:rPr lang="en-US" altLang="en-US">
                <a:sym typeface="+mn-ea"/>
              </a:rPr>
              <a:t>・AnimationData(≠キーフレームデータ)：歩行Step幅, エイム処理の時間, 索敵時の回転角など</a:t>
            </a:r>
            <a:endParaRPr lang="en-US" altLang="en-US"/>
          </a:p>
          <a:p>
            <a:r>
              <a:rPr lang="en-US" altLang="en-US">
                <a:sym typeface="+mn-ea"/>
              </a:rPr>
              <a:t>→上記の系に対して下半身と上半身に分割して全身運動生成を試みる．</a:t>
            </a:r>
            <a:endParaRPr lang="en-US" altLang="en-US"/>
          </a:p>
          <a:p>
            <a:r>
              <a:rPr lang="en-US" altLang="en-US" u="sng">
                <a:sym typeface="+mn-ea"/>
              </a:rPr>
              <a:t>運動生成(上半身)</a:t>
            </a:r>
            <a:endParaRPr lang="en-US" altLang="en-US" u="sng"/>
          </a:p>
          <a:p>
            <a:r>
              <a:rPr lang="en-US" altLang="en-US">
                <a:sym typeface="+mn-ea"/>
              </a:rPr>
              <a:t>・位置決め</a:t>
            </a:r>
            <a:endParaRPr lang="en-US" altLang="en-US"/>
          </a:p>
          <a:p>
            <a:r>
              <a:rPr lang="en-US" altLang="en-US">
                <a:sym typeface="+mn-ea"/>
              </a:rPr>
              <a:t>CCDIKベースにターゲットの移動補正を考慮したAimIKを開発→特異姿勢が存在．</a:t>
            </a:r>
            <a:endParaRPr lang="en-US" altLang="en-US"/>
          </a:p>
          <a:p>
            <a:r>
              <a:rPr lang="en-US" altLang="en-US">
                <a:sym typeface="+mn-ea"/>
              </a:rPr>
              <a:t>正常な姿勢の範囲で各リンクを5度ずつずらした目標姿勢のデータベースを作成し特異姿勢を防ぐ．</a:t>
            </a:r>
            <a:endParaRPr lang="en-US" altLang="en-US"/>
          </a:p>
          <a:p>
            <a:r>
              <a:rPr lang="en-US" altLang="en-US" u="sng">
                <a:sym typeface="+mn-ea"/>
              </a:rPr>
              <a:t>運動生成(下半身)</a:t>
            </a:r>
            <a:endParaRPr lang="en-US" altLang="en-US"/>
          </a:p>
          <a:p>
            <a:r>
              <a:rPr lang="en-US" altLang="en-US">
                <a:sym typeface="+mn-ea"/>
              </a:rPr>
              <a:t>・歩行位置：ステップ幅のパラメータにより決定．</a:t>
            </a:r>
            <a:endParaRPr lang="en-US" altLang="en-US"/>
          </a:p>
          <a:p>
            <a:r>
              <a:rPr lang="en-US" altLang="en-US">
                <a:sym typeface="+mn-ea"/>
              </a:rPr>
              <a:t>カーブでは内輪・外輪差が出ないように補正をかける．姿勢はCCDIKで決定</a:t>
            </a:r>
            <a:endParaRPr lang="en-US" altLang="en-US"/>
          </a:p>
          <a:p>
            <a:r>
              <a:rPr lang="en-US" altLang="en-US">
                <a:sym typeface="+mn-ea"/>
              </a:rPr>
              <a:t>・足運びアニメーション</a:t>
            </a:r>
            <a:endParaRPr lang="en-US" altLang="en-US"/>
          </a:p>
          <a:p>
            <a:r>
              <a:rPr lang="en-US" altLang="en-US">
                <a:sym typeface="+mn-ea"/>
              </a:rPr>
              <a:t>足先をAnkle+Toe+Heelに分割．これらが接地してるパターンをそれぞれ生成する</a:t>
            </a:r>
            <a:endParaRPr lang="en-US" altLang="en-US">
              <a:sym typeface="+mn-ea"/>
            </a:endParaRPr>
          </a:p>
          <a:p>
            <a:r>
              <a:rPr lang="" altLang="en-US" u="sng"/>
              <a:t>所感：</a:t>
            </a:r>
            <a:endParaRPr lang="" altLang="en-US" u="sng"/>
          </a:p>
          <a:p>
            <a:r>
              <a:rPr lang="" altLang="en-US"/>
              <a:t>ロボットの運動生成だと重心移動を考慮した制御が一般的だと思っていたが重心移動の話題はなかった</a:t>
            </a:r>
            <a:endParaRPr lang="" altLang="en-US" u="sng"/>
          </a:p>
          <a:p>
            <a:r>
              <a:rPr lang="" altLang="en-US"/>
              <a:t>被ダメモーション生成になるとZMP(Zero Moment Point)などを考慮する必要がありそう．</a:t>
            </a:r>
            <a:endParaRPr lang=""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 altLang="en-US">
                <a:effectLst/>
              </a:rPr>
              <a:t>Full-Body Animation Generation for Expressive NPCs</a:t>
            </a:r>
            <a:r>
              <a:rPr lang="en-US" altLang="en-US">
                <a:effectLst/>
              </a:rPr>
              <a:t>(1/</a:t>
            </a:r>
            <a:r>
              <a:rPr lang="" altLang="en-US">
                <a:effectLst/>
              </a:rPr>
              <a:t>2</a:t>
            </a:r>
            <a:r>
              <a:rPr lang="en-US" altLang="en-US">
                <a:effectLst/>
              </a:rPr>
              <a:t>)</a:t>
            </a:r>
            <a:endParaRPr lang="en-US" altLang="en-US">
              <a:effectLst/>
            </a:endParaRPr>
          </a:p>
        </p:txBody>
      </p:sp>
      <p:sp>
        <p:nvSpPr>
          <p:cNvPr id="4" name="Text Box 3"/>
          <p:cNvSpPr txBox="true"/>
          <p:nvPr/>
        </p:nvSpPr>
        <p:spPr>
          <a:xfrm>
            <a:off x="647700" y="1584325"/>
            <a:ext cx="10825480" cy="2584450"/>
          </a:xfrm>
          <a:prstGeom prst="rect">
            <a:avLst/>
          </a:prstGeom>
          <a:noFill/>
        </p:spPr>
        <p:txBody>
          <a:bodyPr wrap="square" rtlCol="0">
            <a:spAutoFit/>
          </a:bodyPr>
          <a:p>
            <a:r>
              <a:rPr lang="en-US" altLang="en-US" u="sng"/>
              <a:t>これは何</a:t>
            </a:r>
            <a:endParaRPr lang="en-US" altLang="en-US"/>
          </a:p>
          <a:p>
            <a:r>
              <a:rPr lang="" altLang="en-US"/>
              <a:t>会話でのNPCのアニメーションを機械学習を用いて自動生成する話題</a:t>
            </a:r>
            <a:endParaRPr lang="" altLang="en-US"/>
          </a:p>
          <a:p>
            <a:r>
              <a:rPr lang="" altLang="en-US"/>
              <a:t>顔下半分(CNN)，顔上半分(CNN)とボディランゲージ(U-Net)で各部位ごとに生成を行っている．</a:t>
            </a:r>
            <a:endParaRPr lang="en-US" altLang="en-US"/>
          </a:p>
          <a:p>
            <a:r>
              <a:rPr lang="" altLang="en-US"/>
              <a:t>15秒のアニメーション生成について顔は60ms以内，全身は600ms以内に完了する.(クオリティも保証)</a:t>
            </a:r>
            <a:endParaRPr lang="en-US" altLang="en-US"/>
          </a:p>
          <a:p>
            <a:endParaRPr lang="en-US" altLang="en-US"/>
          </a:p>
          <a:p>
            <a:r>
              <a:rPr lang="" altLang="en-US" u="sng"/>
              <a:t>会話アニメーションを自動生成する</a:t>
            </a:r>
            <a:r>
              <a:rPr lang="en-US" altLang="en-US" u="sng"/>
              <a:t>モチベーション</a:t>
            </a:r>
            <a:endParaRPr lang="en-US" altLang="en-US" u="sng"/>
          </a:p>
          <a:p>
            <a:r>
              <a:rPr lang="" altLang="en-US"/>
              <a:t>手作業で作ると10秒のアニメーションで2日かかる．</a:t>
            </a:r>
            <a:endParaRPr lang="" altLang="en-US"/>
          </a:p>
          <a:p>
            <a:r>
              <a:rPr lang="" altLang="en-US"/>
              <a:t>会話のアニメーションはとにかくバラエティが必要．</a:t>
            </a:r>
            <a:endParaRPr lang="" altLang="en-US"/>
          </a:p>
          <a:p>
            <a:endParaRPr lang=""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Full-Body Animation Generation for Expressive NPCs(</a:t>
            </a:r>
            <a:r>
              <a:rPr lang="" altLang="en-US">
                <a:effectLst/>
              </a:rPr>
              <a:t>2</a:t>
            </a:r>
            <a:r>
              <a:rPr lang="en-US" altLang="en-US">
                <a:effectLst/>
              </a:rPr>
              <a:t>/</a:t>
            </a:r>
            <a:r>
              <a:rPr lang="" altLang="en-US">
                <a:effectLst/>
              </a:rPr>
              <a:t>2</a:t>
            </a:r>
            <a:r>
              <a:rPr lang="en-US" altLang="en-US">
                <a:effectLst/>
              </a:rPr>
              <a:t>)</a:t>
            </a:r>
            <a:endParaRPr lang="en-US" altLang="en-US">
              <a:effectLst/>
            </a:endParaRPr>
          </a:p>
        </p:txBody>
      </p:sp>
      <p:sp>
        <p:nvSpPr>
          <p:cNvPr id="4" name="Text Box 3"/>
          <p:cNvSpPr txBox="true"/>
          <p:nvPr/>
        </p:nvSpPr>
        <p:spPr>
          <a:xfrm>
            <a:off x="647700" y="1584325"/>
            <a:ext cx="10825480" cy="4799965"/>
          </a:xfrm>
          <a:prstGeom prst="rect">
            <a:avLst/>
          </a:prstGeom>
          <a:noFill/>
        </p:spPr>
        <p:txBody>
          <a:bodyPr wrap="square" rtlCol="0">
            <a:spAutoFit/>
          </a:bodyPr>
          <a:p>
            <a:r>
              <a:rPr lang="" altLang="en-US" u="sng"/>
              <a:t>表情生成のネットワーク構造</a:t>
            </a:r>
            <a:endParaRPr lang="" altLang="en-US" u="sng"/>
          </a:p>
          <a:p>
            <a:r>
              <a:rPr lang="en-US" altLang="en-US">
                <a:sym typeface="+mn-ea"/>
              </a:rPr>
              <a:t>処理時間(15sクリップボード生成時間)を考慮してLSTM(500-800ms)ではなくCNN(20-60ms)を使用．</a:t>
            </a:r>
            <a:endParaRPr lang="" altLang="en-US" u="sng"/>
          </a:p>
          <a:p>
            <a:r>
              <a:rPr lang="" altLang="en-US" u="sng"/>
              <a:t>顔下半分の生成</a:t>
            </a:r>
            <a:endParaRPr lang="" altLang="en-US" u="sng"/>
          </a:p>
          <a:p>
            <a:r>
              <a:rPr lang="" altLang="en-US">
                <a:sym typeface="+mn-ea"/>
              </a:rPr>
              <a:t>入力には</a:t>
            </a:r>
            <a:r>
              <a:rPr lang="en-US" altLang="en-US">
                <a:sym typeface="+mn-ea"/>
              </a:rPr>
              <a:t>MFCCのような話者特徴</a:t>
            </a:r>
            <a:r>
              <a:rPr lang="" altLang="en-US">
                <a:sym typeface="+mn-ea"/>
              </a:rPr>
              <a:t>ではなく，</a:t>
            </a:r>
            <a:r>
              <a:rPr lang="" altLang="en-US"/>
              <a:t>音素の時系列データを使用．</a:t>
            </a:r>
            <a:endParaRPr lang="" altLang="en-US"/>
          </a:p>
          <a:p>
            <a:r>
              <a:rPr lang="" altLang="en-US"/>
              <a:t>→話者の音色に絡んだ音声特徴はアニメーションと無関係であるため</a:t>
            </a:r>
            <a:endParaRPr lang="" altLang="en-US"/>
          </a:p>
          <a:p>
            <a:r>
              <a:rPr lang="" altLang="en-US"/>
              <a:t>865通りの会話(5-15s)データセットをGTX1080tiで8時間学習</a:t>
            </a:r>
            <a:endParaRPr lang="" altLang="en-US" u="sng"/>
          </a:p>
          <a:p>
            <a:r>
              <a:rPr lang="" altLang="en-US" u="sng"/>
              <a:t>顔上半分の生成</a:t>
            </a:r>
            <a:endParaRPr lang="" altLang="en-US" u="sng"/>
          </a:p>
          <a:p>
            <a:r>
              <a:rPr lang="" altLang="en-US">
                <a:sym typeface="+mn-ea"/>
              </a:rPr>
              <a:t>入力には単語(≠音素)</a:t>
            </a:r>
            <a:r>
              <a:rPr lang="en-US" altLang="en-US">
                <a:sym typeface="+mn-ea"/>
              </a:rPr>
              <a:t>の時系列データを使用．</a:t>
            </a:r>
            <a:r>
              <a:rPr lang="" altLang="en-US">
                <a:sym typeface="+mn-ea"/>
              </a:rPr>
              <a:t>→ 話者特徴と無関係かつリップシンクを考えなくて良い．</a:t>
            </a:r>
            <a:endParaRPr lang="" altLang="en-US" u="sng"/>
          </a:p>
          <a:p>
            <a:r>
              <a:rPr lang="" altLang="en-US">
                <a:sym typeface="+mn-ea"/>
              </a:rPr>
              <a:t>50min</a:t>
            </a:r>
            <a:r>
              <a:rPr lang="en-US" altLang="en-US">
                <a:sym typeface="+mn-ea"/>
              </a:rPr>
              <a:t>の会話(5-15s)データセットをGTX1080tiで8時間学習</a:t>
            </a:r>
            <a:endParaRPr lang="" altLang="en-US" u="sng"/>
          </a:p>
          <a:p>
            <a:r>
              <a:rPr lang="" altLang="en-US" u="sng"/>
              <a:t>ボディランゲージの生成</a:t>
            </a:r>
            <a:endParaRPr lang="en-US" altLang="en-US"/>
          </a:p>
          <a:p>
            <a:r>
              <a:rPr lang="en-US" altLang="en-US">
                <a:sym typeface="+mn-ea"/>
              </a:rPr>
              <a:t>入力にはMFCC</a:t>
            </a:r>
            <a:r>
              <a:rPr lang="" altLang="en-US">
                <a:sym typeface="+mn-ea"/>
              </a:rPr>
              <a:t>を利用し，学習には</a:t>
            </a:r>
            <a:r>
              <a:rPr lang="en-US" altLang="en-US">
                <a:sym typeface="+mn-ea"/>
              </a:rPr>
              <a:t>話者特徴</a:t>
            </a:r>
            <a:r>
              <a:rPr lang="" altLang="en-US">
                <a:sym typeface="+mn-ea"/>
              </a:rPr>
              <a:t>を反映させる</a:t>
            </a:r>
            <a:r>
              <a:rPr lang="en-US" altLang="en-US">
                <a:sym typeface="+mn-ea"/>
              </a:rPr>
              <a:t>．</a:t>
            </a:r>
            <a:endParaRPr lang="en-US" altLang="en-US">
              <a:sym typeface="+mn-ea"/>
            </a:endParaRPr>
          </a:p>
          <a:p>
            <a:r>
              <a:rPr lang="" altLang="en-US"/>
              <a:t>10hourの音声入力でU-NetをGTX1080tiで12時間学習</a:t>
            </a:r>
            <a:endParaRPr lang="" altLang="en-US"/>
          </a:p>
          <a:p>
            <a:r>
              <a:rPr lang="" altLang="en-US" u="sng"/>
              <a:t>制限</a:t>
            </a:r>
            <a:endParaRPr lang="en-US" altLang="en-US"/>
          </a:p>
          <a:p>
            <a:r>
              <a:rPr lang="" altLang="en-US"/>
              <a:t>制限：生成アニメーションの精度，異なるスケルトンへの適用，高品質なデータセットへ依存</a:t>
            </a:r>
            <a:endParaRPr lang="" altLang="en-US"/>
          </a:p>
          <a:p>
            <a:r>
              <a:rPr lang="en-US" altLang="en-US" u="sng">
                <a:sym typeface="+mn-ea"/>
              </a:rPr>
              <a:t>所感：</a:t>
            </a:r>
            <a:endParaRPr lang="en-US" altLang="en-US"/>
          </a:p>
          <a:p>
            <a:r>
              <a:rPr lang="" altLang="en-US"/>
              <a:t>いつかキラーアプリケーションが出てきそうなキャッチーな話でした．</a:t>
            </a:r>
            <a:endParaRPr lang="en-US" altLang="en-US"/>
          </a:p>
          <a:p>
            <a:endParaRPr lang=""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effectLst/>
              </a:rPr>
              <a:t>Scriptable Core Dump Debugging and Memory Stomp Tracking</a:t>
            </a:r>
            <a:r>
              <a:rPr lang="" altLang="en-US">
                <a:effectLst/>
              </a:rPr>
              <a:t>(1/2)</a:t>
            </a:r>
            <a:endParaRPr lang="" altLang="en-US">
              <a:effectLst/>
            </a:endParaRPr>
          </a:p>
        </p:txBody>
      </p:sp>
      <p:sp>
        <p:nvSpPr>
          <p:cNvPr id="4" name="Text Box 3"/>
          <p:cNvSpPr txBox="true"/>
          <p:nvPr/>
        </p:nvSpPr>
        <p:spPr>
          <a:xfrm>
            <a:off x="647700" y="1584325"/>
            <a:ext cx="10825480" cy="4523105"/>
          </a:xfrm>
          <a:prstGeom prst="rect">
            <a:avLst/>
          </a:prstGeom>
          <a:noFill/>
        </p:spPr>
        <p:txBody>
          <a:bodyPr wrap="square" rtlCol="0">
            <a:spAutoFit/>
          </a:bodyPr>
          <a:p>
            <a:r>
              <a:rPr lang="en-US" altLang="en-US" u="sng"/>
              <a:t>これは何</a:t>
            </a:r>
            <a:endParaRPr lang="en-US" altLang="en-US"/>
          </a:p>
          <a:p>
            <a:r>
              <a:rPr lang="en-US" altLang="en-US"/>
              <a:t>Visual Studioのデバッガ機能(</a:t>
            </a:r>
            <a:r>
              <a:rPr lang="en-US" altLang="en-US">
                <a:sym typeface="+mn-ea"/>
              </a:rPr>
              <a:t>ウォッチやメモリのダンプ</a:t>
            </a:r>
            <a:r>
              <a:rPr lang="en-US" altLang="en-US"/>
              <a:t>)をpythonから操作してデバッグを効率化する話</a:t>
            </a:r>
            <a:endParaRPr lang="en-US" altLang="en-US"/>
          </a:p>
          <a:p>
            <a:r>
              <a:rPr lang="en-US" altLang="en-US"/>
              <a:t>(by NortyDog)</a:t>
            </a:r>
            <a:endParaRPr lang="en-US" altLang="en-US"/>
          </a:p>
          <a:p>
            <a:endParaRPr lang="en-US" altLang="en-US"/>
          </a:p>
          <a:p>
            <a:r>
              <a:rPr lang="" altLang="en-US" u="sng"/>
              <a:t>デバッガをpythonスクリプトから操作するモチベーション</a:t>
            </a:r>
            <a:endParaRPr lang="en-US" altLang="en-US"/>
          </a:p>
          <a:p>
            <a:r>
              <a:rPr lang="en-US" altLang="en-US"/>
              <a:t>複雑なバグのデバッグ</a:t>
            </a:r>
            <a:r>
              <a:rPr lang="" altLang="en-US"/>
              <a:t>に有用</a:t>
            </a:r>
            <a:endParaRPr lang="en-US" altLang="en-US"/>
          </a:p>
          <a:p>
            <a:r>
              <a:rPr lang="en-US" altLang="en-US"/>
              <a:t>例：パーティクルなど生成される数の多いオブジェクトのデバッグ</a:t>
            </a:r>
            <a:endParaRPr lang="en-US" altLang="en-US"/>
          </a:p>
          <a:p>
            <a:r>
              <a:rPr lang="en-US" altLang="en-US"/>
              <a:t>例：メモリ破壊</a:t>
            </a:r>
            <a:endParaRPr lang="en-US" altLang="en-US"/>
          </a:p>
          <a:p>
            <a:endParaRPr lang="en-US" altLang="en-US"/>
          </a:p>
          <a:p>
            <a:r>
              <a:rPr lang="en-US" altLang="en-US" u="sng"/>
              <a:t>既存のデバッグ機能</a:t>
            </a:r>
            <a:endParaRPr lang="en-US" altLang="en-US"/>
          </a:p>
          <a:p>
            <a:r>
              <a:rPr lang="en-US" altLang="en-US">
                <a:sym typeface="+mn-ea"/>
              </a:rPr>
              <a:t>-ウォッチ(visual studio)</a:t>
            </a:r>
            <a:endParaRPr lang="en-US" altLang="en-US"/>
          </a:p>
          <a:p>
            <a:r>
              <a:rPr lang="en-US" altLang="en-US">
                <a:sym typeface="+mn-ea"/>
              </a:rPr>
              <a:t>分かりやすい⇔拡張性が乏しい</a:t>
            </a:r>
            <a:endParaRPr lang="en-US" altLang="en-US"/>
          </a:p>
          <a:p>
            <a:r>
              <a:rPr lang="en-US" altLang="en-US">
                <a:sym typeface="+mn-ea"/>
              </a:rPr>
              <a:t>-デバッグ用のアロケータ</a:t>
            </a:r>
            <a:endParaRPr lang="en-US" altLang="en-US">
              <a:sym typeface="+mn-ea"/>
            </a:endParaRPr>
          </a:p>
          <a:p>
            <a:r>
              <a:rPr lang="en-US" altLang="en-US">
                <a:sym typeface="+mn-ea"/>
              </a:rPr>
              <a:t>メモリ破壊，リークなどを検出可能⇔いつでも使えるわけじゃない</a:t>
            </a:r>
            <a:endParaRPr lang="en-US" altLang="en-US"/>
          </a:p>
          <a:p>
            <a:endParaRPr lang="en-US" altLang="en-US"/>
          </a:p>
          <a:p>
            <a:endParaRPr lang="en-US"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effectLst/>
              </a:rPr>
              <a:t>Scriptable Core Dump Debugging and Memory Stomp Tracking</a:t>
            </a:r>
            <a:r>
              <a:rPr lang="" altLang="en-US">
                <a:effectLst/>
              </a:rPr>
              <a:t>(2/2)</a:t>
            </a:r>
            <a:endParaRPr lang="" altLang="en-US">
              <a:effectLst/>
            </a:endParaRPr>
          </a:p>
        </p:txBody>
      </p:sp>
      <p:sp>
        <p:nvSpPr>
          <p:cNvPr id="4" name="Text Box 3"/>
          <p:cNvSpPr txBox="true"/>
          <p:nvPr/>
        </p:nvSpPr>
        <p:spPr>
          <a:xfrm>
            <a:off x="647700" y="1584325"/>
            <a:ext cx="10825480" cy="4799965"/>
          </a:xfrm>
          <a:prstGeom prst="rect">
            <a:avLst/>
          </a:prstGeom>
          <a:noFill/>
        </p:spPr>
        <p:txBody>
          <a:bodyPr wrap="square" rtlCol="0">
            <a:spAutoFit/>
          </a:bodyPr>
          <a:p>
            <a:r>
              <a:rPr lang="" altLang="en-US" u="sng"/>
              <a:t>Scriptable Debug System</a:t>
            </a:r>
            <a:endParaRPr lang="en-US" altLang="en-US"/>
          </a:p>
          <a:p>
            <a:r>
              <a:rPr lang="" altLang="en-US"/>
              <a:t>VSIX C#プラグインでVisual Studioデバッガへアクセス可能．</a:t>
            </a:r>
            <a:endParaRPr lang="" altLang="en-US"/>
          </a:p>
          <a:p>
            <a:r>
              <a:rPr lang="" altLang="en-US"/>
              <a:t>→ Visual Studioデバッガへアクセスする拡張機能をC#で実装</a:t>
            </a:r>
            <a:endParaRPr lang="" altLang="en-US"/>
          </a:p>
          <a:p>
            <a:r>
              <a:rPr lang="" altLang="en-US"/>
              <a:t>この拡張機能PythonからアクセスすることでScriptableなインターフェイスを持つデバッガを得る．</a:t>
            </a:r>
            <a:endParaRPr lang="" altLang="en-US"/>
          </a:p>
          <a:p>
            <a:endParaRPr lang="" altLang="en-US"/>
          </a:p>
          <a:p>
            <a:r>
              <a:rPr lang="" altLang="en-US" u="sng"/>
              <a:t>なぜわざわざPythonを使うのか</a:t>
            </a:r>
            <a:endParaRPr lang="en-US" altLang="en-US"/>
          </a:p>
          <a:p>
            <a:r>
              <a:rPr lang="" altLang="en-US"/>
              <a:t>Pythonはインタプリタを備えているので逐次的なデバッグが可能．</a:t>
            </a:r>
            <a:endParaRPr lang="" altLang="en-US"/>
          </a:p>
          <a:p>
            <a:r>
              <a:rPr lang="" altLang="en-US"/>
              <a:t>GUIで完全に機能をするデバッグ補助ツールをC#で実装することが難しかった．</a:t>
            </a:r>
            <a:endParaRPr lang="en-US" altLang="en-US"/>
          </a:p>
          <a:p>
            <a:endParaRPr lang="en-US" altLang="en-US" u="sng"/>
          </a:p>
          <a:p>
            <a:r>
              <a:rPr lang="" altLang="en-US" u="sng"/>
              <a:t>ケーススタディ</a:t>
            </a:r>
            <a:endParaRPr lang="" altLang="en-US" u="sng"/>
          </a:p>
          <a:p>
            <a:r>
              <a:rPr lang="" altLang="en-US"/>
              <a:t>Scriptable Debug SystemではPythonコードにより，デバッガ内部の情報を検索・比較・ソートなど</a:t>
            </a:r>
            <a:endParaRPr lang="" altLang="en-US"/>
          </a:p>
          <a:p>
            <a:r>
              <a:rPr lang="" altLang="en-US"/>
              <a:t>柔軟に扱うことができる．この機能を用いたケーススタディとして以下の事例が紹介されていた．</a:t>
            </a:r>
            <a:endParaRPr lang="" altLang="en-US"/>
          </a:p>
          <a:p>
            <a:r>
              <a:rPr lang="" altLang="en-US"/>
              <a:t>・パーティクルシステムのクラッシュ追跡</a:t>
            </a:r>
            <a:endParaRPr lang="" altLang="en-US"/>
          </a:p>
          <a:p>
            <a:r>
              <a:rPr lang="" altLang="en-US"/>
              <a:t>・メモリ破壊の追跡</a:t>
            </a:r>
            <a:endParaRPr lang="" altLang="en-US" u="sng"/>
          </a:p>
          <a:p>
            <a:endParaRPr lang="" altLang="en-US" u="sng"/>
          </a:p>
          <a:p>
            <a:r>
              <a:rPr lang="en-US" altLang="en-US" u="sng">
                <a:sym typeface="+mn-ea"/>
              </a:rPr>
              <a:t>所感：</a:t>
            </a:r>
            <a:endParaRPr lang="en-US" altLang="en-US"/>
          </a:p>
          <a:p>
            <a:r>
              <a:rPr lang="" altLang="en-US"/>
              <a:t>事前にエンジンT内で開催されたGDC情報共有会では一番ウケが良かったセッションでした．</a:t>
            </a:r>
            <a:endParaRPr lang=""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 altLang="en-US">
                <a:effectLst/>
              </a:rPr>
              <a:t>Tool Summit:</a:t>
            </a:r>
            <a:br>
              <a:rPr lang="" altLang="en-US">
                <a:effectLst/>
              </a:rPr>
            </a:br>
            <a:r>
              <a:rPr lang="" altLang="en-US">
                <a:effectLst/>
              </a:rPr>
              <a:t> The Rust Programming language for Game Tooling(1/2)</a:t>
            </a:r>
            <a:endParaRPr lang="" altLang="en-US">
              <a:effectLst/>
            </a:endParaRPr>
          </a:p>
        </p:txBody>
      </p:sp>
      <p:sp>
        <p:nvSpPr>
          <p:cNvPr id="4" name="Text Box 3"/>
          <p:cNvSpPr txBox="true"/>
          <p:nvPr/>
        </p:nvSpPr>
        <p:spPr>
          <a:xfrm>
            <a:off x="647700" y="1584325"/>
            <a:ext cx="10825480" cy="4523105"/>
          </a:xfrm>
          <a:prstGeom prst="rect">
            <a:avLst/>
          </a:prstGeom>
          <a:noFill/>
        </p:spPr>
        <p:txBody>
          <a:bodyPr wrap="square" rtlCol="0">
            <a:spAutoFit/>
          </a:bodyPr>
          <a:p>
            <a:r>
              <a:rPr lang="en-US" altLang="en-US" u="sng"/>
              <a:t>これは何</a:t>
            </a:r>
            <a:endParaRPr lang="en-US" altLang="en-US"/>
          </a:p>
          <a:p>
            <a:r>
              <a:rPr lang="" altLang="en-US"/>
              <a:t>Tool(CUI)開発でRustを使用したケーススタディ集(by </a:t>
            </a:r>
            <a:r>
              <a:rPr lang="en-US" altLang="en-US">
                <a:sym typeface="+mn-ea"/>
              </a:rPr>
              <a:t>Treyarch</a:t>
            </a:r>
            <a:r>
              <a:rPr lang="" altLang="en-US"/>
              <a:t>)．</a:t>
            </a:r>
            <a:endParaRPr lang="en-US" altLang="en-US"/>
          </a:p>
          <a:p>
            <a:endParaRPr lang="en-US" altLang="en-US"/>
          </a:p>
          <a:p>
            <a:r>
              <a:rPr lang="" altLang="en-US" u="sng"/>
              <a:t>Tool開発でRust</a:t>
            </a:r>
            <a:r>
              <a:rPr lang="en-US" altLang="en-US" u="sng"/>
              <a:t>を採用するモチベーション</a:t>
            </a:r>
            <a:endParaRPr lang="en-US" altLang="en-US" u="sng"/>
          </a:p>
          <a:p>
            <a:r>
              <a:rPr lang="" altLang="en-US"/>
              <a:t>ゲーム開発で使用される言語(=Python，C++)と比較してRustの有用性を以下のように紹介している．</a:t>
            </a:r>
            <a:endParaRPr lang="" altLang="en-US"/>
          </a:p>
          <a:p>
            <a:r>
              <a:rPr lang="" altLang="en-US"/>
              <a:t>・コードを書く効率はPythonに近い</a:t>
            </a:r>
            <a:endParaRPr lang="en-US" altLang="en-US"/>
          </a:p>
          <a:p>
            <a:r>
              <a:rPr lang="" altLang="en-US"/>
              <a:t>・コードの実行効率はC++に近い</a:t>
            </a:r>
            <a:endParaRPr lang="" altLang="en-US"/>
          </a:p>
          <a:p>
            <a:r>
              <a:rPr lang="" altLang="en-US"/>
              <a:t>・コードの再利用性が高い(crate)</a:t>
            </a:r>
            <a:endParaRPr lang="" altLang="en-US"/>
          </a:p>
          <a:p>
            <a:r>
              <a:rPr lang="" altLang="en-US"/>
              <a:t>・ビルド，パッケージ，テストのシステム(=cargo)がデフォルトで優秀</a:t>
            </a:r>
            <a:endParaRPr lang="en-US" altLang="en-US"/>
          </a:p>
          <a:p>
            <a:r>
              <a:rPr lang="" altLang="en-US"/>
              <a:t>・静的なマルチスレッド・メモリ安全性の検査(コンパイル時)</a:t>
            </a:r>
            <a:endParaRPr lang="" altLang="en-US"/>
          </a:p>
          <a:p>
            <a:endParaRPr lang="" altLang="en-US"/>
          </a:p>
          <a:p>
            <a:r>
              <a:rPr lang="" altLang="en-US" u="sng"/>
              <a:t>ケーススタディ：</a:t>
            </a:r>
            <a:endParaRPr lang="" altLang="en-US" u="sng"/>
          </a:p>
          <a:p>
            <a:r>
              <a:rPr lang="" altLang="en-US"/>
              <a:t>ケーススタディとして以下の事例を取り上げて解説を行っていた．</a:t>
            </a:r>
            <a:endParaRPr lang="" altLang="en-US"/>
          </a:p>
          <a:p>
            <a:r>
              <a:rPr lang="en-US" altLang="en-US">
                <a:sym typeface="+mn-ea"/>
              </a:rPr>
              <a:t>エラーハンドリング</a:t>
            </a:r>
            <a:r>
              <a:rPr lang="" altLang="en-US">
                <a:sym typeface="+mn-ea"/>
              </a:rPr>
              <a:t>，</a:t>
            </a:r>
            <a:r>
              <a:rPr lang="en-US" altLang="en-US">
                <a:sym typeface="+mn-ea"/>
              </a:rPr>
              <a:t>マルチスレッド</a:t>
            </a:r>
            <a:r>
              <a:rPr lang="" altLang="en-US">
                <a:sym typeface="+mn-ea"/>
              </a:rPr>
              <a:t>，</a:t>
            </a:r>
            <a:r>
              <a:rPr lang="en-US" altLang="en-US">
                <a:sym typeface="+mn-ea"/>
              </a:rPr>
              <a:t>テキストのパース</a:t>
            </a:r>
            <a:r>
              <a:rPr lang="" altLang="en-US">
                <a:sym typeface="+mn-ea"/>
              </a:rPr>
              <a:t>，</a:t>
            </a:r>
            <a:r>
              <a:rPr lang="en-US" altLang="en-US">
                <a:sym typeface="+mn-ea"/>
              </a:rPr>
              <a:t>コマンドラインインターフェイス</a:t>
            </a:r>
            <a:endParaRPr lang="en-US" altLang="en-US"/>
          </a:p>
          <a:p>
            <a:r>
              <a:rPr lang="en-US" altLang="en-US">
                <a:sym typeface="+mn-ea"/>
              </a:rPr>
              <a:t>デバッグ情報のパース</a:t>
            </a:r>
            <a:r>
              <a:rPr lang="" altLang="en-US">
                <a:sym typeface="+mn-ea"/>
              </a:rPr>
              <a:t>，</a:t>
            </a:r>
            <a:r>
              <a:rPr lang="en-US" altLang="en-US">
                <a:sym typeface="+mn-ea"/>
              </a:rPr>
              <a:t>C ABI(=Apprication Binary Interface)との互換性</a:t>
            </a:r>
            <a:r>
              <a:rPr lang="" altLang="en-US">
                <a:sym typeface="+mn-ea"/>
              </a:rPr>
              <a:t>，</a:t>
            </a:r>
            <a:r>
              <a:rPr lang="en-US" altLang="en-US">
                <a:sym typeface="+mn-ea"/>
              </a:rPr>
              <a:t>Web アプリケーション</a:t>
            </a:r>
            <a:r>
              <a:rPr lang="" altLang="en-US">
                <a:sym typeface="+mn-ea"/>
              </a:rPr>
              <a:t>，</a:t>
            </a:r>
            <a:r>
              <a:rPr lang="en-US" altLang="en-US">
                <a:sym typeface="+mn-ea"/>
              </a:rPr>
              <a:t>GUI</a:t>
            </a:r>
            <a:endParaRPr lang="en-US" altLang="en-US"/>
          </a:p>
          <a:p>
            <a:endParaRPr lang=""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Tool Summit: </a:t>
            </a:r>
            <a:br>
              <a:rPr lang="en-US" altLang="en-US">
                <a:effectLst/>
              </a:rPr>
            </a:br>
            <a:r>
              <a:rPr lang="en-US" altLang="en-US">
                <a:effectLst/>
              </a:rPr>
              <a:t>The Rust Programming language for Game Tooling</a:t>
            </a:r>
            <a:r>
              <a:rPr lang="" altLang="en-US">
                <a:effectLst/>
              </a:rPr>
              <a:t>(2/2)</a:t>
            </a:r>
            <a:endParaRPr lang="" altLang="en-US">
              <a:effectLst/>
            </a:endParaRPr>
          </a:p>
        </p:txBody>
      </p:sp>
      <p:sp>
        <p:nvSpPr>
          <p:cNvPr id="4" name="Text Box 3"/>
          <p:cNvSpPr txBox="true"/>
          <p:nvPr/>
        </p:nvSpPr>
        <p:spPr>
          <a:xfrm>
            <a:off x="647700" y="1548765"/>
            <a:ext cx="10825480" cy="5077460"/>
          </a:xfrm>
          <a:prstGeom prst="rect">
            <a:avLst/>
          </a:prstGeom>
          <a:noFill/>
        </p:spPr>
        <p:txBody>
          <a:bodyPr wrap="square" rtlCol="0">
            <a:spAutoFit/>
          </a:bodyPr>
          <a:p>
            <a:r>
              <a:rPr lang="" altLang="en-US" u="sng"/>
              <a:t>TreyarchでのRustによるインテグレーション</a:t>
            </a:r>
            <a:endParaRPr lang="en-US" altLang="en-US" u="sng"/>
          </a:p>
          <a:p>
            <a:r>
              <a:rPr lang="" altLang="en-US"/>
              <a:t>2017年から3つのツール(大)，20のツール(小)を作成(120K LOC)したが非常に安定しているらしい．</a:t>
            </a:r>
            <a:endParaRPr lang="" altLang="en-US" u="sng"/>
          </a:p>
          <a:p>
            <a:endParaRPr lang="" altLang="en-US" u="sng"/>
          </a:p>
          <a:p>
            <a:r>
              <a:rPr lang="" altLang="en-US" u="sng"/>
              <a:t>Rustの課題</a:t>
            </a:r>
            <a:endParaRPr lang="" altLang="en-US" u="sng"/>
          </a:p>
          <a:p>
            <a:r>
              <a:rPr lang="" altLang="en-US"/>
              <a:t>上記の経験からC++と比較してRustでは以下の課題が発生したと紹介している．	 </a:t>
            </a:r>
            <a:endParaRPr lang="" altLang="en-US"/>
          </a:p>
          <a:p>
            <a:r>
              <a:rPr lang="" altLang="en-US"/>
              <a:t>・言語としての難解さ</a:t>
            </a:r>
            <a:endParaRPr lang="" altLang="en-US"/>
          </a:p>
          <a:p>
            <a:r>
              <a:rPr lang="" altLang="en-US"/>
              <a:t>・Rustのエコシステム(crate, cargo)への依存</a:t>
            </a:r>
            <a:endParaRPr lang="" altLang="en-US"/>
          </a:p>
          <a:p>
            <a:r>
              <a:rPr lang="" altLang="en-US"/>
              <a:t>・コンパイル時間の増加</a:t>
            </a:r>
            <a:endParaRPr lang="" altLang="en-US" u="sng"/>
          </a:p>
          <a:p>
            <a:r>
              <a:rPr lang="" altLang="en-US" u="sng"/>
              <a:t>→ それでもC++より生産性は高いらしい．</a:t>
            </a:r>
            <a:endParaRPr lang="" altLang="en-US" u="sng"/>
          </a:p>
          <a:p>
            <a:endParaRPr lang="" altLang="en-US" u="sng"/>
          </a:p>
          <a:p>
            <a:r>
              <a:rPr lang="" altLang="en-US" u="sng"/>
              <a:t>終わりに</a:t>
            </a:r>
            <a:endParaRPr lang="" altLang="en-US" u="sng"/>
          </a:p>
          <a:p>
            <a:r>
              <a:rPr lang="" altLang="en-US"/>
              <a:t>このセッションでは，最後にRustへの称賛と以下で締めくくられていた．</a:t>
            </a:r>
            <a:endParaRPr lang="" altLang="en-US" u="sng"/>
          </a:p>
          <a:p>
            <a:r>
              <a:rPr lang="" altLang="en-US"/>
              <a:t>ベストなワークフローは vscode + rust_analizer + cargo_edit + rustfmt + clippy である．</a:t>
            </a:r>
            <a:endParaRPr lang="" altLang="en-US"/>
          </a:p>
          <a:p>
            <a:r>
              <a:rPr lang="" altLang="en-US"/>
              <a:t>完璧なRustのコードを書くことは難しいが，悪いRustのコードはそんなに悪くない．</a:t>
            </a:r>
            <a:endParaRPr lang="" altLang="en-US"/>
          </a:p>
          <a:p>
            <a:r>
              <a:rPr lang="" altLang="en-US"/>
              <a:t>(コンパイルで安全性がある程度保証されるため)</a:t>
            </a:r>
            <a:endParaRPr lang="" altLang="en-US"/>
          </a:p>
          <a:p>
            <a:endParaRPr lang="" altLang="en-US" u="sng"/>
          </a:p>
          <a:p>
            <a:r>
              <a:rPr lang="" altLang="en-US" u="sng"/>
              <a:t>所感：</a:t>
            </a:r>
            <a:endParaRPr lang="" altLang="en-US" u="sng"/>
          </a:p>
          <a:p>
            <a:r>
              <a:rPr lang="" altLang="en-US"/>
              <a:t>コンパイル時間が長いのはかなり頭を悩ませそうな問題だと感じた．</a:t>
            </a:r>
            <a:endParaRPr lang=""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Tool Summit: </a:t>
            </a:r>
            <a:br>
              <a:rPr lang="en-US" altLang="en-US">
                <a:effectLst/>
              </a:rPr>
            </a:br>
            <a:r>
              <a:rPr lang="" altLang="en-US">
                <a:effectLst/>
              </a:rPr>
              <a:t>How Ubisoft Builds Tools that Are More Intuitive(1/1)</a:t>
            </a:r>
            <a:endParaRPr lang="" altLang="en-US">
              <a:effectLst/>
            </a:endParaRPr>
          </a:p>
        </p:txBody>
      </p:sp>
      <p:sp>
        <p:nvSpPr>
          <p:cNvPr id="4" name="Text Box 3"/>
          <p:cNvSpPr txBox="true"/>
          <p:nvPr/>
        </p:nvSpPr>
        <p:spPr>
          <a:xfrm>
            <a:off x="647700" y="1584325"/>
            <a:ext cx="10825480" cy="3692525"/>
          </a:xfrm>
          <a:prstGeom prst="rect">
            <a:avLst/>
          </a:prstGeom>
          <a:noFill/>
        </p:spPr>
        <p:txBody>
          <a:bodyPr wrap="square" rtlCol="0">
            <a:spAutoFit/>
          </a:bodyPr>
          <a:p>
            <a:r>
              <a:rPr lang="en-US" altLang="en-US" u="sng"/>
              <a:t>これは何</a:t>
            </a:r>
            <a:endParaRPr lang="en-US" altLang="en-US"/>
          </a:p>
          <a:p>
            <a:r>
              <a:rPr lang="" altLang="en-US"/>
              <a:t>UbiSoftが直感的なツールを設計するときにを親しみやすさを意識する話</a:t>
            </a:r>
            <a:r>
              <a:rPr lang="en-US" altLang="en-US"/>
              <a:t>．</a:t>
            </a:r>
            <a:endParaRPr lang="en-US" altLang="en-US"/>
          </a:p>
          <a:p>
            <a:r>
              <a:rPr lang="" altLang="en-US"/>
              <a:t>親しみやすさは他のツールとの共通部分を増やすことで改善することができる．</a:t>
            </a:r>
            <a:endParaRPr lang="en-US" altLang="en-US"/>
          </a:p>
          <a:p>
            <a:endParaRPr lang="en-US" altLang="en-US"/>
          </a:p>
          <a:p>
            <a:r>
              <a:rPr lang="" altLang="en-US" u="sng"/>
              <a:t>UbiSoftが直感的なツールを開発</a:t>
            </a:r>
            <a:r>
              <a:rPr lang="en-US" altLang="en-US" u="sng"/>
              <a:t>するモチベーション</a:t>
            </a:r>
            <a:endParaRPr lang="en-US" altLang="en-US" u="sng"/>
          </a:p>
          <a:p>
            <a:r>
              <a:rPr lang="" altLang="en-US"/>
              <a:t>Ubiではツールのユーザが16000人存在．</a:t>
            </a:r>
            <a:endParaRPr lang="" altLang="en-US"/>
          </a:p>
          <a:p>
            <a:r>
              <a:rPr lang="" altLang="en-US"/>
              <a:t>直感的なツールにより学習時間を減らすことはスケールメリットがある．</a:t>
            </a:r>
            <a:endParaRPr lang="" altLang="en-US"/>
          </a:p>
          <a:p>
            <a:endParaRPr lang="" altLang="en-US"/>
          </a:p>
          <a:p>
            <a:r>
              <a:rPr lang="" altLang="en-US" u="sng"/>
              <a:t>UbiSoftにおけるツールUXのガイドライン</a:t>
            </a:r>
            <a:endParaRPr lang="" altLang="en-US"/>
          </a:p>
          <a:p>
            <a:r>
              <a:rPr lang="" altLang="en-US"/>
              <a:t>UbiSoftでは各DCCツール(Adobe, Autodesk, ...)とそのユーザインタフェースの要素をリスト化し，</a:t>
            </a:r>
            <a:endParaRPr lang="" altLang="en-US"/>
          </a:p>
          <a:p>
            <a:r>
              <a:rPr lang="" altLang="en-US"/>
              <a:t>各UI要素がどのように機能して，共通部分について調査している．</a:t>
            </a:r>
            <a:endParaRPr lang="" altLang="en-US"/>
          </a:p>
          <a:p>
            <a:r>
              <a:rPr lang="" altLang="en-US"/>
              <a:t>これをまとめたものがツールのUXの推奨事項としてガイドラインとして策定されている．</a:t>
            </a:r>
            <a:endParaRPr lang="en-US" altLang="en-US"/>
          </a:p>
          <a:p>
            <a:endParaRPr lang="en-US"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true"/>
          </p:cNvSpPr>
          <p:nvPr>
            <p:ph type="title"/>
          </p:nvPr>
        </p:nvSpPr>
        <p:spPr/>
        <p:txBody>
          <a:bodyPr/>
          <a:p>
            <a:r>
              <a:rPr lang="en-US" altLang="en-US">
                <a:effectLst/>
              </a:rPr>
              <a:t>Animation Summ</a:t>
            </a:r>
            <a:r>
              <a:rPr lang="" altLang="en-US">
                <a:effectLst/>
              </a:rPr>
              <a:t>it:</a:t>
            </a:r>
            <a:br>
              <a:rPr lang="" altLang="en-US">
                <a:effectLst/>
              </a:rPr>
            </a:br>
            <a:r>
              <a:rPr lang="" altLang="en-US">
                <a:effectLst/>
              </a:rPr>
              <a:t> Free Up the Cognitive Load:Ux in Animation Workflow(1/1)</a:t>
            </a:r>
            <a:endParaRPr lang="" altLang="en-US">
              <a:effectLst/>
            </a:endParaRPr>
          </a:p>
        </p:txBody>
      </p:sp>
      <p:sp>
        <p:nvSpPr>
          <p:cNvPr id="4" name="Text Box 3"/>
          <p:cNvSpPr txBox="true"/>
          <p:nvPr/>
        </p:nvSpPr>
        <p:spPr>
          <a:xfrm>
            <a:off x="647700" y="1584325"/>
            <a:ext cx="10825480" cy="4707890"/>
          </a:xfrm>
          <a:prstGeom prst="rect">
            <a:avLst/>
          </a:prstGeom>
          <a:noFill/>
        </p:spPr>
        <p:txBody>
          <a:bodyPr wrap="square" rtlCol="0">
            <a:spAutoFit/>
          </a:bodyPr>
          <a:p>
            <a:r>
              <a:rPr lang="en-US" altLang="en-US" u="sng"/>
              <a:t>これは何</a:t>
            </a:r>
            <a:endParaRPr lang="en-US" altLang="en-US"/>
          </a:p>
          <a:p>
            <a:r>
              <a:rPr lang="" altLang="en-US"/>
              <a:t>認知負荷(=Cognitive Load)を考慮したアニメーションツールの合理化の話題</a:t>
            </a:r>
            <a:endParaRPr lang="en-US" altLang="en-US"/>
          </a:p>
          <a:p>
            <a:endParaRPr lang="en-US" altLang="en-US"/>
          </a:p>
          <a:p>
            <a:r>
              <a:rPr lang="" altLang="en-US" u="sng"/>
              <a:t>ツール開発で認知負荷</a:t>
            </a:r>
            <a:endParaRPr lang="en-US" altLang="en-US" u="sng"/>
          </a:p>
          <a:p>
            <a:r>
              <a:rPr lang="" altLang="en-US"/>
              <a:t>脳のワーキングメモリのボトルネックによって認知負荷が発生する．</a:t>
            </a:r>
            <a:endParaRPr lang="" altLang="en-US"/>
          </a:p>
          <a:p>
            <a:r>
              <a:rPr lang="" altLang="en-US"/>
              <a:t>この講演ではツールでの認知負荷を軽減する要素として以下3点が紹介されていた．</a:t>
            </a:r>
            <a:endParaRPr lang="" altLang="en-US"/>
          </a:p>
          <a:p>
            <a:r>
              <a:rPr lang="" altLang="en-US"/>
              <a:t>・Make the most of familiarities：</a:t>
            </a:r>
            <a:endParaRPr lang="" altLang="en-US"/>
          </a:p>
          <a:p>
            <a:r>
              <a:rPr lang="" altLang="en-US"/>
              <a:t>カーネギーメロン大学の研究[1]で親しみ易さによってワーキングメモリを改善できることが確認．</a:t>
            </a:r>
            <a:endParaRPr lang="" altLang="en-US"/>
          </a:p>
          <a:p>
            <a:r>
              <a:rPr lang="" altLang="en-US"/>
              <a:t>ケーススタディ：Mayaのタイムライン</a:t>
            </a:r>
            <a:endParaRPr lang="en-US" altLang="en-US"/>
          </a:p>
          <a:p>
            <a:r>
              <a:rPr lang="" altLang="en-US"/>
              <a:t>・Standardlze：</a:t>
            </a:r>
            <a:endParaRPr lang="" altLang="en-US"/>
          </a:p>
          <a:p>
            <a:r>
              <a:rPr lang="" altLang="en-US"/>
              <a:t>ツールのワークフローを統一するによって認知負荷の軽減できる．</a:t>
            </a:r>
            <a:endParaRPr lang="en-US" altLang="en-US"/>
          </a:p>
          <a:p>
            <a:r>
              <a:rPr lang="" altLang="en-US"/>
              <a:t>ケーススタディ：JPEGエクスポーターのワークフロー(GamePlay, Vignette, Cinematic)の統一．</a:t>
            </a:r>
            <a:endParaRPr lang="" altLang="en-US"/>
          </a:p>
          <a:p>
            <a:r>
              <a:rPr lang="" altLang="en-US"/>
              <a:t>・ Do the Math for users：</a:t>
            </a:r>
            <a:endParaRPr lang="en-US" altLang="en-US"/>
          </a:p>
          <a:p>
            <a:r>
              <a:rPr lang="" altLang="en-US"/>
              <a:t>計算可能な部分は自動で計算を行い，結果をユーザの入力と分けて表示することで認知負荷を軽減．</a:t>
            </a:r>
            <a:endParaRPr lang="" altLang="en-US"/>
          </a:p>
          <a:p>
            <a:r>
              <a:rPr lang="" altLang="en-US"/>
              <a:t>ケーススタディ：アニメーションウェイト調整ツールでの事例．</a:t>
            </a:r>
            <a:endParaRPr lang="en-US" altLang="en-US"/>
          </a:p>
          <a:p>
            <a:endParaRPr lang="en-US" altLang="en-US"/>
          </a:p>
          <a:p>
            <a:r>
              <a:rPr lang="" altLang="en-US" sz="1200">
                <a:sym typeface="+mn-ea"/>
              </a:rPr>
              <a:t>[1] </a:t>
            </a:r>
            <a:r>
              <a:rPr lang="en-US" altLang="en-US" sz="1200">
                <a:sym typeface="+mn-ea"/>
              </a:rPr>
              <a:t>Building knowledge requires bricks, not sand: The critical role of familiar constituents in learning</a:t>
            </a:r>
            <a:endParaRPr lang="en-US" altLang="en-US" sz="1200">
              <a:sym typeface="+mn-ea"/>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8770</Words>
  <Application>WPS Presentation</Application>
  <PresentationFormat>宽屏</PresentationFormat>
  <Paragraphs>365</Paragraphs>
  <Slides>20</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20</vt:i4>
      </vt:variant>
    </vt:vector>
  </HeadingPairs>
  <TitlesOfParts>
    <vt:vector size="37" baseType="lpstr">
      <vt:lpstr>Arial</vt:lpstr>
      <vt:lpstr>SimSun</vt:lpstr>
      <vt:lpstr>Wingdings</vt:lpstr>
      <vt:lpstr>FreeSans</vt:lpstr>
      <vt:lpstr>Arial Black</vt:lpstr>
      <vt:lpstr>URW Bookman</vt:lpstr>
      <vt:lpstr>微软雅黑</vt:lpstr>
      <vt:lpstr>ＭＳ Ｐゴシック</vt:lpstr>
      <vt:lpstr>Arial Unicode MS</vt:lpstr>
      <vt:lpstr>SimSun</vt:lpstr>
      <vt:lpstr>ＭＳ Ｐゴシック</vt:lpstr>
      <vt:lpstr>Source Han Sans JP</vt:lpstr>
      <vt:lpstr>SimSun</vt:lpstr>
      <vt:lpstr>Standard Symbols PS</vt:lpstr>
      <vt:lpstr>NotoSansMono Nerd Font</vt:lpstr>
      <vt:lpstr>Calibri</vt:lpstr>
      <vt:lpstr>Office Theme</vt:lpstr>
      <vt:lpstr>PowerPoint 演示文稿</vt:lpstr>
      <vt:lpstr>Rope Simulation in 'Uncharted 4' and 'The Last of Us 2'</vt:lpstr>
      <vt:lpstr>Rope Simulation in 'Uncharted 4' and 'The Last of Us 2'</vt:lpstr>
      <vt:lpstr>Rope Simulation in 'Uncharted 4' and 'The Last of Us 2'</vt:lpstr>
      <vt:lpstr>Rope Simulation in 'Uncharted 4' and 'The Last of Us 2'(1/3)</vt:lpstr>
      <vt:lpstr>Rope Simulation in 'Uncharted 4' and 'The Last of Us 2'(1/3)</vt:lpstr>
      <vt:lpstr>Rope Simulation in 'Uncharted 4' and 'The Last of Us 2'</vt:lpstr>
      <vt:lpstr>Animation Summit: Take ‘CONTOL’ of Animation</vt:lpstr>
      <vt:lpstr>Animation Summit: Take ‘CONTOL’ of Animation</vt:lpstr>
      <vt:lpstr>Animation Summit: Take ‘CONTOL’ of Animation</vt:lpstr>
      <vt:lpstr>Animation Summit: Take ‘CONTOL’ of Animation</vt:lpstr>
      <vt:lpstr>Animation Summit: From Design:  Full Procedural Animation for Mechs</vt:lpstr>
      <vt:lpstr>Animation Summit: Take ‘CONTOL’ of Animation(1/4)</vt:lpstr>
      <vt:lpstr>Full-Body Animation Generation for Expressive NPCs(1/4)</vt:lpstr>
      <vt:lpstr>Scriptable Core Dump Debugging and Memory Stomp Tracking</vt:lpstr>
      <vt:lpstr>Scriptable Core Dump Debugging and Memory Stomp Tracking</vt:lpstr>
      <vt:lpstr>Animation Summit: Take ‘CONTOL’ of Animation</vt:lpstr>
      <vt:lpstr>Tool Summit: The Rust Programming language for Game Tooling</vt:lpstr>
      <vt:lpstr>Tool Summit: The Rust Programming language for Game Tooling</vt:lpstr>
      <vt:lpstr>Animation Summit: Take ‘CONTOL’ of Animation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elf</dc:creator>
  <cp:lastModifiedBy>elf</cp:lastModifiedBy>
  <cp:revision>59</cp:revision>
  <dcterms:created xsi:type="dcterms:W3CDTF">2021-08-02T23:51:29Z</dcterms:created>
  <dcterms:modified xsi:type="dcterms:W3CDTF">2021-08-02T23:51:29Z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1033-11.1.0.10161</vt:lpwstr>
  </property>
</Properties>
</file>